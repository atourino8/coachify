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pre-seed de Coachify. Producto ya construido y funcional, pendiente de lanzamiento comercial.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la falta de herramientas genéricas, es que ninguna está pensada para el flujo diario del entrenador personal en España.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bloques que cubren el día a día completo. El sexto, la corrección de técnica por vídeo, es el diferenciador.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 clave frente a otros pre-seed: el riesgo de ejecución técnica ya está resuelto. El producto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feature que justifica el precio premium y da una razón de uso semanal, no mensual.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de mercado global varían mucho según la definición de cada consultora; damos un rango en vez de un dato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central: los tres competidores cobran por número de clientes, así que el entrenador paga más cuanto mejor le va. Nuestro precio plano por entrenador es la cuña comercial. Además, Dupla no tiene agenda: está hecho para el coach online, mientras que nosotros servimos al presencial e híbrido. Mencionarlos nosotros mismos demuestra que conocemos 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Argumento clave: los tres competidores cobran por cliente; nosotros no. Rentables con 3 entrenadores; 38 dan 1.000 EUR/mes netos. El caso de empresas no es teórico: ya hay una interesada a través de un entrenador conocido.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riesgo técnico ya está asumido. Lo que queda por delante es riesgo comercial: validar precio y canal de captación.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argumento de timing más fuerte es el tercero: la competencia está creando el hueco por sí sola con sus subidas de precio.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petición concreta. Rellenar importe y porcentaje antes de la reunión.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roundRect">
            <a:avLst>
              <a:gd name="adj" fmla="val 20000"/>
            </a:avLst>
          </a:prstGeom>
          <a:solidFill>
            <a:srgbClr val="2563EB"/>
          </a:solidFill>
          <a:ln/>
        </p:spPr>
      </p:sp>
      <p:sp>
        <p:nvSpPr>
          <p:cNvPr id="3" name="Text 1"/>
          <p:cNvSpPr/>
          <p:nvPr/>
        </p:nvSpPr>
        <p:spPr>
          <a:xfrm>
            <a:off x="822960" y="1920240"/>
            <a:ext cx="100584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C</a:t>
            </a:r>
            <a:endParaRPr lang="en-US" sz="4600" dirty="0"/>
          </a:p>
        </p:txBody>
      </p:sp>
      <p:sp>
        <p:nvSpPr>
          <p:cNvPr id="4" name="Text 2"/>
          <p:cNvSpPr/>
          <p:nvPr/>
        </p:nvSpPr>
        <p:spPr>
          <a:xfrm>
            <a:off x="2057400" y="1965960"/>
            <a:ext cx="8229600" cy="914400"/>
          </a:xfrm>
          <a:prstGeom prst="rect">
            <a:avLst/>
          </a:prstGeom>
          <a:noFill/>
          <a:ln/>
        </p:spPr>
        <p:txBody>
          <a:bodyPr wrap="square" lIns="0" tIns="0" rIns="0" bIns="0" rtlCol="0" anchor="ctr"/>
          <a:lstStyle/>
          <a:p>
            <a:pPr indent="0" marL="0">
              <a:buNone/>
            </a:pPr>
            <a:r>
              <a:rPr lang="en-US" sz="5400" b="1" dirty="0">
                <a:solidFill>
                  <a:srgbClr val="F1F5F9"/>
                </a:solidFill>
                <a:latin typeface="Cambria" pitchFamily="34" charset="0"/>
                <a:ea typeface="Cambria" pitchFamily="34" charset="-122"/>
                <a:cs typeface="Cambria" pitchFamily="34" charset="-120"/>
              </a:rPr>
              <a:t>Coachify</a:t>
            </a:r>
            <a:endParaRPr lang="en-US" sz="5400" dirty="0"/>
          </a:p>
        </p:txBody>
      </p:sp>
      <p:sp>
        <p:nvSpPr>
          <p:cNvPr id="5" name="Text 3"/>
          <p:cNvSpPr/>
          <p:nvPr/>
        </p:nvSpPr>
        <p:spPr>
          <a:xfrm>
            <a:off x="822960" y="3200400"/>
            <a:ext cx="9601200" cy="457200"/>
          </a:xfrm>
          <a:prstGeom prst="rect">
            <a:avLst/>
          </a:prstGeom>
          <a:noFill/>
          <a:ln/>
        </p:spPr>
        <p:txBody>
          <a:bodyPr wrap="square" lIns="0" tIns="0" rIns="0" bIns="0" rtlCol="0" anchor="ctr"/>
          <a:lstStyle/>
          <a:p>
            <a:pPr indent="0" marL="0">
              <a:buNone/>
            </a:pPr>
            <a:r>
              <a:rPr lang="en-US" sz="1900" dirty="0">
                <a:solidFill>
                  <a:srgbClr val="38BDF8"/>
                </a:solidFill>
                <a:latin typeface="Calibri" pitchFamily="34" charset="0"/>
                <a:ea typeface="Calibri" pitchFamily="34" charset="-122"/>
                <a:cs typeface="Calibri" pitchFamily="34" charset="-120"/>
              </a:rPr>
              <a:t>El software con el que un entrenador personal deja el Excel y el WhatsApp</a:t>
            </a:r>
            <a:endParaRPr lang="en-US" sz="1900" dirty="0"/>
          </a:p>
        </p:txBody>
      </p:sp>
      <p:sp>
        <p:nvSpPr>
          <p:cNvPr id="6" name="Text 4"/>
          <p:cNvSpPr/>
          <p:nvPr/>
        </p:nvSpPr>
        <p:spPr>
          <a:xfrm>
            <a:off x="822960" y="3749040"/>
            <a:ext cx="9144000" cy="822960"/>
          </a:xfrm>
          <a:prstGeom prst="rect">
            <a:avLst/>
          </a:prstGeom>
          <a:noFill/>
          <a:ln/>
        </p:spPr>
        <p:txBody>
          <a:bodyPr wrap="square" lIns="0" tIns="0" rIns="0" bIns="0" rtlCol="0" anchor="ctr"/>
          <a:lstStyle/>
          <a:p>
            <a:pPr indent="0" marL="0">
              <a:lnSpc>
                <a:spcPts val="2200"/>
              </a:lnSpc>
              <a:buNone/>
            </a:pPr>
            <a:r>
              <a:rPr lang="en-US" sz="1400" dirty="0">
                <a:solidFill>
                  <a:srgbClr val="94A3B8"/>
                </a:solidFill>
                <a:latin typeface="Calibri" pitchFamily="34" charset="0"/>
                <a:ea typeface="Calibri" pitchFamily="34" charset="-122"/>
                <a:cs typeface="Calibri" pitchFamily="34" charset="-120"/>
              </a:rPr>
              <a:t>Programa entrenamientos, gestiona citas y corrige la técnica de tus clientes</a:t>
            </a:r>
            <a:endParaRPr lang="en-US" sz="1400" dirty="0"/>
          </a:p>
          <a:p>
            <a:pPr indent="0" marL="0">
              <a:lnSpc>
                <a:spcPts val="2200"/>
              </a:lnSpc>
              <a:buNone/>
            </a:pPr>
            <a:r>
              <a:rPr lang="en-US" sz="1400" dirty="0">
                <a:solidFill>
                  <a:srgbClr val="94A3B8"/>
                </a:solidFill>
                <a:latin typeface="Calibri" pitchFamily="34" charset="0"/>
                <a:ea typeface="Calibri" pitchFamily="34" charset="-122"/>
                <a:cs typeface="Calibri" pitchFamily="34" charset="-120"/>
              </a:rPr>
              <a:t>desde un único sitio.</a:t>
            </a:r>
            <a:endParaRPr lang="en-US" sz="1400" dirty="0"/>
          </a:p>
        </p:txBody>
      </p:sp>
      <p:sp>
        <p:nvSpPr>
          <p:cNvPr id="7" name="Text 5"/>
          <p:cNvSpPr/>
          <p:nvPr/>
        </p:nvSpPr>
        <p:spPr>
          <a:xfrm>
            <a:off x="822960" y="5120640"/>
            <a:ext cx="9144000" cy="365760"/>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Ronda pre-seed · Producto construido, listo para lanzar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EL PROBLEMA</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El entrenador personal gestiona su negocio a mano</a:t>
            </a:r>
            <a:endParaRPr lang="en-US" sz="3400" dirty="0"/>
          </a:p>
        </p:txBody>
      </p:sp>
      <p:sp>
        <p:nvSpPr>
          <p:cNvPr id="4" name="Shape 2"/>
          <p:cNvSpPr/>
          <p:nvPr/>
        </p:nvSpPr>
        <p:spPr>
          <a:xfrm>
            <a:off x="640080" y="1463040"/>
            <a:ext cx="6949440" cy="960120"/>
          </a:xfrm>
          <a:prstGeom prst="roundRect">
            <a:avLst>
              <a:gd name="adj" fmla="val 11429"/>
            </a:avLst>
          </a:prstGeom>
          <a:solidFill>
            <a:srgbClr val="F1F5F9"/>
          </a:solidFill>
          <a:ln w="12700">
            <a:solidFill>
              <a:srgbClr val="F1F5F9"/>
            </a:solidFill>
            <a:prstDash val="solid"/>
          </a:ln>
        </p:spPr>
      </p:sp>
      <p:sp>
        <p:nvSpPr>
          <p:cNvPr id="5" name="Shape 3"/>
          <p:cNvSpPr/>
          <p:nvPr/>
        </p:nvSpPr>
        <p:spPr>
          <a:xfrm>
            <a:off x="868680" y="1691640"/>
            <a:ext cx="502920" cy="502920"/>
          </a:xfrm>
          <a:prstGeom prst="ellipse">
            <a:avLst/>
          </a:prstGeom>
          <a:solidFill>
            <a:srgbClr val="2563EB"/>
          </a:solidFill>
          <a:ln/>
        </p:spPr>
      </p:sp>
      <p:sp>
        <p:nvSpPr>
          <p:cNvPr id="6" name="Text 4"/>
          <p:cNvSpPr/>
          <p:nvPr/>
        </p:nvSpPr>
        <p:spPr>
          <a:xfrm>
            <a:off x="86868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54480" y="1627632"/>
            <a:ext cx="585216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Excel y notas sueltas</a:t>
            </a:r>
            <a:endParaRPr lang="en-US" sz="1500" dirty="0"/>
          </a:p>
        </p:txBody>
      </p:sp>
      <p:sp>
        <p:nvSpPr>
          <p:cNvPr id="8" name="Text 6"/>
          <p:cNvSpPr/>
          <p:nvPr/>
        </p:nvSpPr>
        <p:spPr>
          <a:xfrm>
            <a:off x="1554480" y="1938528"/>
            <a:ext cx="5852160" cy="38404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Las rutinas viven en hojas de cálculo que se duplican y se desactualizan.</a:t>
            </a:r>
            <a:endParaRPr lang="en-US" sz="1200" dirty="0"/>
          </a:p>
        </p:txBody>
      </p:sp>
      <p:sp>
        <p:nvSpPr>
          <p:cNvPr id="9" name="Shape 7"/>
          <p:cNvSpPr/>
          <p:nvPr/>
        </p:nvSpPr>
        <p:spPr>
          <a:xfrm>
            <a:off x="640080" y="2578608"/>
            <a:ext cx="6949440" cy="960120"/>
          </a:xfrm>
          <a:prstGeom prst="roundRect">
            <a:avLst>
              <a:gd name="adj" fmla="val 11429"/>
            </a:avLst>
          </a:prstGeom>
          <a:solidFill>
            <a:srgbClr val="F8FAFC"/>
          </a:solidFill>
          <a:ln w="12700">
            <a:solidFill>
              <a:srgbClr val="F8FAFC"/>
            </a:solidFill>
            <a:prstDash val="solid"/>
          </a:ln>
        </p:spPr>
      </p:sp>
      <p:sp>
        <p:nvSpPr>
          <p:cNvPr id="10" name="Shape 8"/>
          <p:cNvSpPr/>
          <p:nvPr/>
        </p:nvSpPr>
        <p:spPr>
          <a:xfrm>
            <a:off x="868680" y="2807208"/>
            <a:ext cx="502920" cy="502920"/>
          </a:xfrm>
          <a:prstGeom prst="ellipse">
            <a:avLst/>
          </a:prstGeom>
          <a:solidFill>
            <a:srgbClr val="2563EB"/>
          </a:solidFill>
          <a:ln/>
        </p:spPr>
      </p:sp>
      <p:sp>
        <p:nvSpPr>
          <p:cNvPr id="11" name="Text 9"/>
          <p:cNvSpPr/>
          <p:nvPr/>
        </p:nvSpPr>
        <p:spPr>
          <a:xfrm>
            <a:off x="868680" y="28072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54480" y="2743200"/>
            <a:ext cx="585216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WhatsApp como CRM</a:t>
            </a:r>
            <a:endParaRPr lang="en-US" sz="1500" dirty="0"/>
          </a:p>
        </p:txBody>
      </p:sp>
      <p:sp>
        <p:nvSpPr>
          <p:cNvPr id="13" name="Text 11"/>
          <p:cNvSpPr/>
          <p:nvPr/>
        </p:nvSpPr>
        <p:spPr>
          <a:xfrm>
            <a:off x="1554480" y="3054096"/>
            <a:ext cx="5852160" cy="38404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Citas, dudas y seguimiento mezclados con la vida personal. Nada queda registrado.</a:t>
            </a:r>
            <a:endParaRPr lang="en-US" sz="1200" dirty="0"/>
          </a:p>
        </p:txBody>
      </p:sp>
      <p:sp>
        <p:nvSpPr>
          <p:cNvPr id="14" name="Shape 12"/>
          <p:cNvSpPr/>
          <p:nvPr/>
        </p:nvSpPr>
        <p:spPr>
          <a:xfrm>
            <a:off x="640080" y="3694176"/>
            <a:ext cx="6949440" cy="960120"/>
          </a:xfrm>
          <a:prstGeom prst="roundRect">
            <a:avLst>
              <a:gd name="adj" fmla="val 11429"/>
            </a:avLst>
          </a:prstGeom>
          <a:solidFill>
            <a:srgbClr val="F1F5F9"/>
          </a:solidFill>
          <a:ln w="12700">
            <a:solidFill>
              <a:srgbClr val="F1F5F9"/>
            </a:solidFill>
            <a:prstDash val="solid"/>
          </a:ln>
        </p:spPr>
      </p:sp>
      <p:sp>
        <p:nvSpPr>
          <p:cNvPr id="15" name="Shape 13"/>
          <p:cNvSpPr/>
          <p:nvPr/>
        </p:nvSpPr>
        <p:spPr>
          <a:xfrm>
            <a:off x="868680" y="3922776"/>
            <a:ext cx="502920" cy="502920"/>
          </a:xfrm>
          <a:prstGeom prst="ellipse">
            <a:avLst/>
          </a:prstGeom>
          <a:solidFill>
            <a:srgbClr val="2563EB"/>
          </a:solidFill>
          <a:ln/>
        </p:spPr>
      </p:sp>
      <p:sp>
        <p:nvSpPr>
          <p:cNvPr id="16" name="Text 14"/>
          <p:cNvSpPr/>
          <p:nvPr/>
        </p:nvSpPr>
        <p:spPr>
          <a:xfrm>
            <a:off x="868680" y="392277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54480" y="3858768"/>
            <a:ext cx="585216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Sin seguimiento real</a:t>
            </a:r>
            <a:endParaRPr lang="en-US" sz="1500" dirty="0"/>
          </a:p>
        </p:txBody>
      </p:sp>
      <p:sp>
        <p:nvSpPr>
          <p:cNvPr id="18" name="Text 16"/>
          <p:cNvSpPr/>
          <p:nvPr/>
        </p:nvSpPr>
        <p:spPr>
          <a:xfrm>
            <a:off x="1554480" y="4169664"/>
            <a:ext cx="5852160" cy="38404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No sabe si el cliente hizo el entreno, con qué peso, ni cómo evoluciona.</a:t>
            </a:r>
            <a:endParaRPr lang="en-US" sz="1200" dirty="0"/>
          </a:p>
        </p:txBody>
      </p:sp>
      <p:sp>
        <p:nvSpPr>
          <p:cNvPr id="19" name="Shape 17"/>
          <p:cNvSpPr/>
          <p:nvPr/>
        </p:nvSpPr>
        <p:spPr>
          <a:xfrm>
            <a:off x="640080" y="4809744"/>
            <a:ext cx="6949440" cy="960120"/>
          </a:xfrm>
          <a:prstGeom prst="roundRect">
            <a:avLst>
              <a:gd name="adj" fmla="val 11429"/>
            </a:avLst>
          </a:prstGeom>
          <a:solidFill>
            <a:srgbClr val="F8FAFC"/>
          </a:solidFill>
          <a:ln w="12700">
            <a:solidFill>
              <a:srgbClr val="F8FAFC"/>
            </a:solidFill>
            <a:prstDash val="solid"/>
          </a:ln>
        </p:spPr>
      </p:sp>
      <p:sp>
        <p:nvSpPr>
          <p:cNvPr id="20" name="Shape 18"/>
          <p:cNvSpPr/>
          <p:nvPr/>
        </p:nvSpPr>
        <p:spPr>
          <a:xfrm>
            <a:off x="868680" y="5038344"/>
            <a:ext cx="502920" cy="502920"/>
          </a:xfrm>
          <a:prstGeom prst="ellipse">
            <a:avLst/>
          </a:prstGeom>
          <a:solidFill>
            <a:srgbClr val="2563EB"/>
          </a:solidFill>
          <a:ln/>
        </p:spPr>
      </p:sp>
      <p:sp>
        <p:nvSpPr>
          <p:cNvPr id="21" name="Text 19"/>
          <p:cNvSpPr/>
          <p:nvPr/>
        </p:nvSpPr>
        <p:spPr>
          <a:xfrm>
            <a:off x="868680" y="50383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54480" y="4974336"/>
            <a:ext cx="585216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La técnica solo se ve en persona</a:t>
            </a:r>
            <a:endParaRPr lang="en-US" sz="1500" dirty="0"/>
          </a:p>
        </p:txBody>
      </p:sp>
      <p:sp>
        <p:nvSpPr>
          <p:cNvPr id="23" name="Text 21"/>
          <p:cNvSpPr/>
          <p:nvPr/>
        </p:nvSpPr>
        <p:spPr>
          <a:xfrm>
            <a:off x="1554480" y="5285232"/>
            <a:ext cx="5852160" cy="38404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Fuera de la sesión presencial, el cliente entrena sin supervisión.</a:t>
            </a:r>
            <a:endParaRPr lang="en-US" sz="1200" dirty="0"/>
          </a:p>
        </p:txBody>
      </p:sp>
      <p:sp>
        <p:nvSpPr>
          <p:cNvPr id="24" name="Shape 22"/>
          <p:cNvSpPr/>
          <p:nvPr/>
        </p:nvSpPr>
        <p:spPr>
          <a:xfrm>
            <a:off x="7955280" y="1463040"/>
            <a:ext cx="3566160" cy="4270248"/>
          </a:xfrm>
          <a:prstGeom prst="roundRect">
            <a:avLst>
              <a:gd name="adj" fmla="val 3077"/>
            </a:avLst>
          </a:prstGeom>
          <a:solidFill>
            <a:srgbClr val="0A1628"/>
          </a:solidFill>
          <a:ln w="12700">
            <a:solidFill>
              <a:srgbClr val="0A1628"/>
            </a:solidFill>
            <a:prstDash val="solid"/>
          </a:ln>
        </p:spPr>
      </p:sp>
      <p:sp>
        <p:nvSpPr>
          <p:cNvPr id="25" name="Text 23"/>
          <p:cNvSpPr/>
          <p:nvPr/>
        </p:nvSpPr>
        <p:spPr>
          <a:xfrm>
            <a:off x="8275320" y="1783080"/>
            <a:ext cx="2926080" cy="274320"/>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Consecuencia</a:t>
            </a:r>
            <a:endParaRPr lang="en-US" sz="1200" dirty="0"/>
          </a:p>
        </p:txBody>
      </p:sp>
      <p:sp>
        <p:nvSpPr>
          <p:cNvPr id="26" name="Text 24"/>
          <p:cNvSpPr/>
          <p:nvPr/>
        </p:nvSpPr>
        <p:spPr>
          <a:xfrm>
            <a:off x="8275320" y="2194560"/>
            <a:ext cx="2926080" cy="1280160"/>
          </a:xfrm>
          <a:prstGeom prst="rect">
            <a:avLst/>
          </a:prstGeom>
          <a:noFill/>
          <a:ln/>
        </p:spPr>
        <p:txBody>
          <a:bodyPr wrap="square" lIns="0" tIns="0" rIns="0" bIns="0" rtlCol="0" anchor="ctr"/>
          <a:lstStyle/>
          <a:p>
            <a:pPr indent="0" marL="0">
              <a:lnSpc>
                <a:spcPts val="3000"/>
              </a:lnSpc>
              <a:buNone/>
            </a:pPr>
            <a:r>
              <a:rPr lang="en-US" sz="2400" b="1" dirty="0">
                <a:solidFill>
                  <a:srgbClr val="F1F5F9"/>
                </a:solidFill>
                <a:latin typeface="Cambria" pitchFamily="34" charset="0"/>
                <a:ea typeface="Cambria" pitchFamily="34" charset="-122"/>
                <a:cs typeface="Cambria" pitchFamily="34" charset="-120"/>
              </a:rPr>
              <a:t>Menos clientes</a:t>
            </a:r>
            <a:endParaRPr lang="en-US" sz="2400" dirty="0"/>
          </a:p>
          <a:p>
            <a:pPr indent="0" marL="0">
              <a:lnSpc>
                <a:spcPts val="3000"/>
              </a:lnSpc>
              <a:buNone/>
            </a:pPr>
            <a:r>
              <a:rPr lang="en-US" sz="2400" b="1" dirty="0">
                <a:solidFill>
                  <a:srgbClr val="F1F5F9"/>
                </a:solidFill>
                <a:latin typeface="Cambria" pitchFamily="34" charset="0"/>
                <a:ea typeface="Cambria" pitchFamily="34" charset="-122"/>
                <a:cs typeface="Cambria" pitchFamily="34" charset="-120"/>
              </a:rPr>
              <a:t>de los que podría</a:t>
            </a:r>
            <a:endParaRPr lang="en-US" sz="2400" dirty="0"/>
          </a:p>
          <a:p>
            <a:pPr indent="0" marL="0">
              <a:lnSpc>
                <a:spcPts val="3000"/>
              </a:lnSpc>
              <a:buNone/>
            </a:pPr>
            <a:r>
              <a:rPr lang="en-US" sz="2400" b="1" dirty="0">
                <a:solidFill>
                  <a:srgbClr val="F1F5F9"/>
                </a:solidFill>
                <a:latin typeface="Cambria" pitchFamily="34" charset="0"/>
                <a:ea typeface="Cambria" pitchFamily="34" charset="-122"/>
                <a:cs typeface="Cambria" pitchFamily="34" charset="-120"/>
              </a:rPr>
              <a:t>llevar</a:t>
            </a:r>
            <a:endParaRPr lang="en-US" sz="2400" dirty="0"/>
          </a:p>
        </p:txBody>
      </p:sp>
      <p:sp>
        <p:nvSpPr>
          <p:cNvPr id="27" name="Text 25"/>
          <p:cNvSpPr/>
          <p:nvPr/>
        </p:nvSpPr>
        <p:spPr>
          <a:xfrm>
            <a:off x="8275320" y="3520440"/>
            <a:ext cx="2926080" cy="1463040"/>
          </a:xfrm>
          <a:prstGeom prst="rect">
            <a:avLst/>
          </a:prstGeom>
          <a:noFill/>
          <a:ln/>
        </p:spPr>
        <p:txBody>
          <a:bodyPr wrap="square" lIns="0" tIns="0" rIns="0" bIns="0" rtlCol="0" anchor="ctr"/>
          <a:lstStyle/>
          <a:p>
            <a:pPr indent="0" marL="0">
              <a:lnSpc>
                <a:spcPts val="1800"/>
              </a:lnSpc>
              <a:buNone/>
            </a:pPr>
            <a:r>
              <a:rPr lang="en-US" sz="1200" dirty="0">
                <a:solidFill>
                  <a:srgbClr val="94A3B8"/>
                </a:solidFill>
                <a:latin typeface="Calibri" pitchFamily="34" charset="0"/>
                <a:ea typeface="Calibri" pitchFamily="34" charset="-122"/>
                <a:cs typeface="Calibri" pitchFamily="34" charset="-120"/>
              </a:rPr>
              <a:t>El tiempo se va en administración, no en entrenar. Y el cliente que no ve progreso, se va.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LA SOLUCIÓN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Todo su negocio, en una sola herramienta</a:t>
            </a:r>
            <a:endParaRPr lang="en-US" sz="3400" dirty="0"/>
          </a:p>
        </p:txBody>
      </p:sp>
      <p:sp>
        <p:nvSpPr>
          <p:cNvPr id="4" name="Shape 2"/>
          <p:cNvSpPr/>
          <p:nvPr/>
        </p:nvSpPr>
        <p:spPr>
          <a:xfrm>
            <a:off x="640080" y="1600200"/>
            <a:ext cx="3566160" cy="2011680"/>
          </a:xfrm>
          <a:prstGeom prst="roundRect">
            <a:avLst>
              <a:gd name="adj" fmla="val 5455"/>
            </a:avLst>
          </a:prstGeom>
          <a:solidFill>
            <a:srgbClr val="122340"/>
          </a:solidFill>
          <a:ln w="12700">
            <a:solidFill>
              <a:srgbClr val="122340"/>
            </a:solidFill>
            <a:prstDash val="solid"/>
          </a:ln>
        </p:spPr>
      </p:sp>
      <p:sp>
        <p:nvSpPr>
          <p:cNvPr id="5" name="Shape 3"/>
          <p:cNvSpPr/>
          <p:nvPr/>
        </p:nvSpPr>
        <p:spPr>
          <a:xfrm>
            <a:off x="914400" y="1856232"/>
            <a:ext cx="502920" cy="502920"/>
          </a:xfrm>
          <a:prstGeom prst="ellipse">
            <a:avLst/>
          </a:prstGeom>
          <a:solidFill>
            <a:srgbClr val="2563EB"/>
          </a:solidFill>
          <a:ln/>
        </p:spPr>
      </p:sp>
      <p:sp>
        <p:nvSpPr>
          <p:cNvPr id="6" name="Text 4"/>
          <p:cNvSpPr/>
          <p:nvPr/>
        </p:nvSpPr>
        <p:spPr>
          <a:xfrm>
            <a:off x="914400" y="1856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14400" y="2468880"/>
            <a:ext cx="3017520" cy="2743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Biblioteca propia</a:t>
            </a:r>
            <a:endParaRPr lang="en-US" sz="1500" dirty="0"/>
          </a:p>
        </p:txBody>
      </p:sp>
      <p:sp>
        <p:nvSpPr>
          <p:cNvPr id="8" name="Text 6"/>
          <p:cNvSpPr/>
          <p:nvPr/>
        </p:nvSpPr>
        <p:spPr>
          <a:xfrm>
            <a:off x="914400" y="27889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Sus ejercicios, con vídeo, y entrenamientos reutilizables que aplica en segundos.</a:t>
            </a:r>
            <a:endParaRPr lang="en-US" sz="1150" dirty="0"/>
          </a:p>
        </p:txBody>
      </p:sp>
      <p:sp>
        <p:nvSpPr>
          <p:cNvPr id="9" name="Shape 7"/>
          <p:cNvSpPr/>
          <p:nvPr/>
        </p:nvSpPr>
        <p:spPr>
          <a:xfrm>
            <a:off x="4389120" y="1600200"/>
            <a:ext cx="3566160" cy="2011680"/>
          </a:xfrm>
          <a:prstGeom prst="roundRect">
            <a:avLst>
              <a:gd name="adj" fmla="val 5455"/>
            </a:avLst>
          </a:prstGeom>
          <a:solidFill>
            <a:srgbClr val="122340"/>
          </a:solidFill>
          <a:ln w="12700">
            <a:solidFill>
              <a:srgbClr val="122340"/>
            </a:solidFill>
            <a:prstDash val="solid"/>
          </a:ln>
        </p:spPr>
      </p:sp>
      <p:sp>
        <p:nvSpPr>
          <p:cNvPr id="10" name="Shape 8"/>
          <p:cNvSpPr/>
          <p:nvPr/>
        </p:nvSpPr>
        <p:spPr>
          <a:xfrm>
            <a:off x="4663440" y="1856232"/>
            <a:ext cx="502920" cy="502920"/>
          </a:xfrm>
          <a:prstGeom prst="ellipse">
            <a:avLst/>
          </a:prstGeom>
          <a:solidFill>
            <a:srgbClr val="2563EB"/>
          </a:solidFill>
          <a:ln/>
        </p:spPr>
      </p:sp>
      <p:sp>
        <p:nvSpPr>
          <p:cNvPr id="11" name="Text 9"/>
          <p:cNvSpPr/>
          <p:nvPr/>
        </p:nvSpPr>
        <p:spPr>
          <a:xfrm>
            <a:off x="4663440" y="1856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63440" y="2468880"/>
            <a:ext cx="3017520" cy="2743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Programación por días</a:t>
            </a:r>
            <a:endParaRPr lang="en-US" sz="1500" dirty="0"/>
          </a:p>
        </p:txBody>
      </p:sp>
      <p:sp>
        <p:nvSpPr>
          <p:cNvPr id="13" name="Text 11"/>
          <p:cNvSpPr/>
          <p:nvPr/>
        </p:nvSpPr>
        <p:spPr>
          <a:xfrm>
            <a:off x="4663440" y="27889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Asigna un entrenamiento a varios días de golpe: L/X/V de dos semanas, hecho.</a:t>
            </a:r>
            <a:endParaRPr lang="en-US" sz="1150" dirty="0"/>
          </a:p>
        </p:txBody>
      </p:sp>
      <p:sp>
        <p:nvSpPr>
          <p:cNvPr id="14" name="Shape 12"/>
          <p:cNvSpPr/>
          <p:nvPr/>
        </p:nvSpPr>
        <p:spPr>
          <a:xfrm>
            <a:off x="8138160" y="1600200"/>
            <a:ext cx="3566160" cy="2011680"/>
          </a:xfrm>
          <a:prstGeom prst="roundRect">
            <a:avLst>
              <a:gd name="adj" fmla="val 5455"/>
            </a:avLst>
          </a:prstGeom>
          <a:solidFill>
            <a:srgbClr val="122340"/>
          </a:solidFill>
          <a:ln w="12700">
            <a:solidFill>
              <a:srgbClr val="122340"/>
            </a:solidFill>
            <a:prstDash val="solid"/>
          </a:ln>
        </p:spPr>
      </p:sp>
      <p:sp>
        <p:nvSpPr>
          <p:cNvPr id="15" name="Shape 13"/>
          <p:cNvSpPr/>
          <p:nvPr/>
        </p:nvSpPr>
        <p:spPr>
          <a:xfrm>
            <a:off x="8412480" y="1856232"/>
            <a:ext cx="502920" cy="502920"/>
          </a:xfrm>
          <a:prstGeom prst="ellipse">
            <a:avLst/>
          </a:prstGeom>
          <a:solidFill>
            <a:srgbClr val="2563EB"/>
          </a:solidFill>
          <a:ln/>
        </p:spPr>
      </p:sp>
      <p:sp>
        <p:nvSpPr>
          <p:cNvPr id="16" name="Text 14"/>
          <p:cNvSpPr/>
          <p:nvPr/>
        </p:nvSpPr>
        <p:spPr>
          <a:xfrm>
            <a:off x="8412480" y="1856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412480" y="2468880"/>
            <a:ext cx="3017520" cy="2743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Agenda con citas</a:t>
            </a:r>
            <a:endParaRPr lang="en-US" sz="1500" dirty="0"/>
          </a:p>
        </p:txBody>
      </p:sp>
      <p:sp>
        <p:nvSpPr>
          <p:cNvPr id="18" name="Text 16"/>
          <p:cNvSpPr/>
          <p:nvPr/>
        </p:nvSpPr>
        <p:spPr>
          <a:xfrm>
            <a:off x="8412480" y="27889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El cliente pide hora sobre los huecos reales del entrenador. Sin ida y vuelta.</a:t>
            </a:r>
            <a:endParaRPr lang="en-US" sz="1150" dirty="0"/>
          </a:p>
        </p:txBody>
      </p:sp>
      <p:sp>
        <p:nvSpPr>
          <p:cNvPr id="19" name="Shape 17"/>
          <p:cNvSpPr/>
          <p:nvPr/>
        </p:nvSpPr>
        <p:spPr>
          <a:xfrm>
            <a:off x="640080" y="3886200"/>
            <a:ext cx="3566160" cy="2011680"/>
          </a:xfrm>
          <a:prstGeom prst="roundRect">
            <a:avLst>
              <a:gd name="adj" fmla="val 5455"/>
            </a:avLst>
          </a:prstGeom>
          <a:solidFill>
            <a:srgbClr val="122340"/>
          </a:solidFill>
          <a:ln w="12700">
            <a:solidFill>
              <a:srgbClr val="122340"/>
            </a:solidFill>
            <a:prstDash val="solid"/>
          </a:ln>
        </p:spPr>
      </p:sp>
      <p:sp>
        <p:nvSpPr>
          <p:cNvPr id="20" name="Shape 18"/>
          <p:cNvSpPr/>
          <p:nvPr/>
        </p:nvSpPr>
        <p:spPr>
          <a:xfrm>
            <a:off x="914400" y="4142232"/>
            <a:ext cx="502920" cy="502920"/>
          </a:xfrm>
          <a:prstGeom prst="ellipse">
            <a:avLst/>
          </a:prstGeom>
          <a:solidFill>
            <a:srgbClr val="2563EB"/>
          </a:solidFill>
          <a:ln/>
        </p:spPr>
      </p:sp>
      <p:sp>
        <p:nvSpPr>
          <p:cNvPr id="21" name="Text 19"/>
          <p:cNvSpPr/>
          <p:nvPr/>
        </p:nvSpPr>
        <p:spPr>
          <a:xfrm>
            <a:off x="914400" y="4142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914400" y="4754880"/>
            <a:ext cx="3017520" cy="2743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Seguimiento real</a:t>
            </a:r>
            <a:endParaRPr lang="en-US" sz="1500" dirty="0"/>
          </a:p>
        </p:txBody>
      </p:sp>
      <p:sp>
        <p:nvSpPr>
          <p:cNvPr id="23" name="Text 21"/>
          <p:cNvSpPr/>
          <p:nvPr/>
        </p:nvSpPr>
        <p:spPr>
          <a:xfrm>
            <a:off x="914400" y="50749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El cliente registra series, peso y sensación. El entrenador ve el progreso.</a:t>
            </a:r>
            <a:endParaRPr lang="en-US" sz="1150" dirty="0"/>
          </a:p>
        </p:txBody>
      </p:sp>
      <p:sp>
        <p:nvSpPr>
          <p:cNvPr id="24" name="Shape 22"/>
          <p:cNvSpPr/>
          <p:nvPr/>
        </p:nvSpPr>
        <p:spPr>
          <a:xfrm>
            <a:off x="4389120" y="3886200"/>
            <a:ext cx="3566160" cy="2011680"/>
          </a:xfrm>
          <a:prstGeom prst="roundRect">
            <a:avLst>
              <a:gd name="adj" fmla="val 5455"/>
            </a:avLst>
          </a:prstGeom>
          <a:solidFill>
            <a:srgbClr val="122340"/>
          </a:solidFill>
          <a:ln w="12700">
            <a:solidFill>
              <a:srgbClr val="122340"/>
            </a:solidFill>
            <a:prstDash val="solid"/>
          </a:ln>
        </p:spPr>
      </p:sp>
      <p:sp>
        <p:nvSpPr>
          <p:cNvPr id="25" name="Shape 23"/>
          <p:cNvSpPr/>
          <p:nvPr/>
        </p:nvSpPr>
        <p:spPr>
          <a:xfrm>
            <a:off x="4663440" y="4142232"/>
            <a:ext cx="502920" cy="502920"/>
          </a:xfrm>
          <a:prstGeom prst="ellipse">
            <a:avLst/>
          </a:prstGeom>
          <a:solidFill>
            <a:srgbClr val="2563EB"/>
          </a:solidFill>
          <a:ln/>
        </p:spPr>
      </p:sp>
      <p:sp>
        <p:nvSpPr>
          <p:cNvPr id="26" name="Text 24"/>
          <p:cNvSpPr/>
          <p:nvPr/>
        </p:nvSpPr>
        <p:spPr>
          <a:xfrm>
            <a:off x="4663440" y="4142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4663440" y="4754880"/>
            <a:ext cx="3017520" cy="2743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Ficha del cliente</a:t>
            </a:r>
            <a:endParaRPr lang="en-US" sz="1500" dirty="0"/>
          </a:p>
        </p:txBody>
      </p:sp>
      <p:sp>
        <p:nvSpPr>
          <p:cNvPr id="28" name="Text 26"/>
          <p:cNvSpPr/>
          <p:nvPr/>
        </p:nvSpPr>
        <p:spPr>
          <a:xfrm>
            <a:off x="4663440" y="50749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Objetivos, lesiones, nivel e historial. Contexto antes de cada sesión.</a:t>
            </a:r>
            <a:endParaRPr lang="en-US" sz="1150" dirty="0"/>
          </a:p>
        </p:txBody>
      </p:sp>
      <p:sp>
        <p:nvSpPr>
          <p:cNvPr id="29" name="Shape 27"/>
          <p:cNvSpPr/>
          <p:nvPr/>
        </p:nvSpPr>
        <p:spPr>
          <a:xfrm>
            <a:off x="8138160" y="3886200"/>
            <a:ext cx="3566160" cy="2011680"/>
          </a:xfrm>
          <a:prstGeom prst="roundRect">
            <a:avLst>
              <a:gd name="adj" fmla="val 5455"/>
            </a:avLst>
          </a:prstGeom>
          <a:solidFill>
            <a:srgbClr val="122340"/>
          </a:solidFill>
          <a:ln w="12700">
            <a:solidFill>
              <a:srgbClr val="122340"/>
            </a:solidFill>
            <a:prstDash val="solid"/>
          </a:ln>
        </p:spPr>
      </p:sp>
      <p:sp>
        <p:nvSpPr>
          <p:cNvPr id="30" name="Shape 28"/>
          <p:cNvSpPr/>
          <p:nvPr/>
        </p:nvSpPr>
        <p:spPr>
          <a:xfrm>
            <a:off x="8412480" y="4142232"/>
            <a:ext cx="502920" cy="502920"/>
          </a:xfrm>
          <a:prstGeom prst="ellipse">
            <a:avLst/>
          </a:prstGeom>
          <a:solidFill>
            <a:srgbClr val="38BDF8"/>
          </a:solidFill>
          <a:ln/>
        </p:spPr>
      </p:sp>
      <p:sp>
        <p:nvSpPr>
          <p:cNvPr id="31" name="Text 29"/>
          <p:cNvSpPr/>
          <p:nvPr/>
        </p:nvSpPr>
        <p:spPr>
          <a:xfrm>
            <a:off x="8412480" y="4142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8412480" y="4754880"/>
            <a:ext cx="3017520" cy="2743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Corrección de técnica</a:t>
            </a:r>
            <a:endParaRPr lang="en-US" sz="1500" dirty="0"/>
          </a:p>
        </p:txBody>
      </p:sp>
      <p:sp>
        <p:nvSpPr>
          <p:cNvPr id="33" name="Text 31"/>
          <p:cNvSpPr/>
          <p:nvPr/>
        </p:nvSpPr>
        <p:spPr>
          <a:xfrm>
            <a:off x="8412480" y="5074920"/>
            <a:ext cx="3017520" cy="7315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El cliente envía un vídeo y recibe la corrección de su entrenador.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ESTADO DEL PRODUCTO</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No es una idea: está construido y funciona</a:t>
            </a:r>
            <a:endParaRPr lang="en-US" sz="3400" dirty="0"/>
          </a:p>
        </p:txBody>
      </p:sp>
      <p:sp>
        <p:nvSpPr>
          <p:cNvPr id="4" name="Shape 2"/>
          <p:cNvSpPr/>
          <p:nvPr/>
        </p:nvSpPr>
        <p:spPr>
          <a:xfrm>
            <a:off x="640080" y="1463040"/>
            <a:ext cx="3502152" cy="1600200"/>
          </a:xfrm>
          <a:prstGeom prst="roundRect">
            <a:avLst>
              <a:gd name="adj" fmla="val 6857"/>
            </a:avLst>
          </a:prstGeom>
          <a:solidFill>
            <a:srgbClr val="F1F5F9"/>
          </a:solidFill>
          <a:ln w="12700">
            <a:solidFill>
              <a:srgbClr val="F1F5F9"/>
            </a:solidFill>
            <a:prstDash val="solid"/>
          </a:ln>
        </p:spPr>
      </p:sp>
      <p:sp>
        <p:nvSpPr>
          <p:cNvPr id="5" name="Text 3"/>
          <p:cNvSpPr/>
          <p:nvPr/>
        </p:nvSpPr>
        <p:spPr>
          <a:xfrm>
            <a:off x="914400" y="1600200"/>
            <a:ext cx="2926080" cy="731520"/>
          </a:xfrm>
          <a:prstGeom prst="rect">
            <a:avLst/>
          </a:prstGeom>
          <a:noFill/>
          <a:ln/>
        </p:spPr>
        <p:txBody>
          <a:bodyPr wrap="square" lIns="0" tIns="0" rIns="0" bIns="0" rtlCol="0" anchor="ctr"/>
          <a:lstStyle/>
          <a:p>
            <a:pPr indent="0" marL="0">
              <a:buNone/>
            </a:pPr>
            <a:r>
              <a:rPr lang="en-US" sz="4000" b="1" dirty="0">
                <a:solidFill>
                  <a:srgbClr val="2563EB"/>
                </a:solidFill>
                <a:latin typeface="Cambria" pitchFamily="34" charset="0"/>
                <a:ea typeface="Cambria" pitchFamily="34" charset="-122"/>
                <a:cs typeface="Cambria" pitchFamily="34" charset="-120"/>
              </a:rPr>
              <a:t>100%</a:t>
            </a:r>
            <a:endParaRPr lang="en-US" sz="4000" dirty="0"/>
          </a:p>
        </p:txBody>
      </p:sp>
      <p:sp>
        <p:nvSpPr>
          <p:cNvPr id="6" name="Text 4"/>
          <p:cNvSpPr/>
          <p:nvPr/>
        </p:nvSpPr>
        <p:spPr>
          <a:xfrm>
            <a:off x="914400" y="2377440"/>
            <a:ext cx="2926080" cy="548640"/>
          </a:xfrm>
          <a:prstGeom prst="rect">
            <a:avLst/>
          </a:prstGeom>
          <a:noFill/>
          <a:ln/>
        </p:spPr>
        <p:txBody>
          <a:bodyPr wrap="square" lIns="0" tIns="0" rIns="0" bIns="0" rtlCol="0" anchor="ctr"/>
          <a:lstStyle/>
          <a:p>
            <a:pPr indent="0" marL="0">
              <a:lnSpc>
                <a:spcPts val="1500"/>
              </a:lnSpc>
              <a:buNone/>
            </a:pPr>
            <a:r>
              <a:rPr lang="en-US" sz="1200" dirty="0">
                <a:solidFill>
                  <a:srgbClr val="475569"/>
                </a:solidFill>
                <a:latin typeface="Calibri" pitchFamily="34" charset="0"/>
                <a:ea typeface="Calibri" pitchFamily="34" charset="-122"/>
                <a:cs typeface="Calibri" pitchFamily="34" charset="-120"/>
              </a:rPr>
              <a:t>del flujo completo</a:t>
            </a:r>
            <a:endParaRPr lang="en-US" sz="1200" dirty="0"/>
          </a:p>
          <a:p>
            <a:pPr indent="0" marL="0">
              <a:lnSpc>
                <a:spcPts val="1500"/>
              </a:lnSpc>
              <a:buNone/>
            </a:pPr>
            <a:r>
              <a:rPr lang="en-US" sz="1200" dirty="0">
                <a:solidFill>
                  <a:srgbClr val="475569"/>
                </a:solidFill>
                <a:latin typeface="Calibri" pitchFamily="34" charset="0"/>
                <a:ea typeface="Calibri" pitchFamily="34" charset="-122"/>
                <a:cs typeface="Calibri" pitchFamily="34" charset="-120"/>
              </a:rPr>
              <a:t>implementado</a:t>
            </a:r>
            <a:endParaRPr lang="en-US" sz="1200" dirty="0"/>
          </a:p>
        </p:txBody>
      </p:sp>
      <p:sp>
        <p:nvSpPr>
          <p:cNvPr id="7" name="Shape 5"/>
          <p:cNvSpPr/>
          <p:nvPr/>
        </p:nvSpPr>
        <p:spPr>
          <a:xfrm>
            <a:off x="4352544" y="1463040"/>
            <a:ext cx="3502152" cy="1600200"/>
          </a:xfrm>
          <a:prstGeom prst="roundRect">
            <a:avLst>
              <a:gd name="adj" fmla="val 6857"/>
            </a:avLst>
          </a:prstGeom>
          <a:solidFill>
            <a:srgbClr val="F1F5F9"/>
          </a:solidFill>
          <a:ln w="12700">
            <a:solidFill>
              <a:srgbClr val="F1F5F9"/>
            </a:solidFill>
            <a:prstDash val="solid"/>
          </a:ln>
        </p:spPr>
      </p:sp>
      <p:sp>
        <p:nvSpPr>
          <p:cNvPr id="8" name="Text 6"/>
          <p:cNvSpPr/>
          <p:nvPr/>
        </p:nvSpPr>
        <p:spPr>
          <a:xfrm>
            <a:off x="4626864" y="1600200"/>
            <a:ext cx="2926080" cy="731520"/>
          </a:xfrm>
          <a:prstGeom prst="rect">
            <a:avLst/>
          </a:prstGeom>
          <a:noFill/>
          <a:ln/>
        </p:spPr>
        <p:txBody>
          <a:bodyPr wrap="square" lIns="0" tIns="0" rIns="0" bIns="0" rtlCol="0" anchor="ctr"/>
          <a:lstStyle/>
          <a:p>
            <a:pPr indent="0" marL="0">
              <a:buNone/>
            </a:pPr>
            <a:r>
              <a:rPr lang="en-US" sz="4000" b="1" dirty="0">
                <a:solidFill>
                  <a:srgbClr val="2563EB"/>
                </a:solidFill>
                <a:latin typeface="Cambria" pitchFamily="34" charset="0"/>
                <a:ea typeface="Cambria" pitchFamily="34" charset="-122"/>
                <a:cs typeface="Cambria" pitchFamily="34" charset="-120"/>
              </a:rPr>
              <a:t>2</a:t>
            </a:r>
            <a:endParaRPr lang="en-US" sz="4000" dirty="0"/>
          </a:p>
        </p:txBody>
      </p:sp>
      <p:sp>
        <p:nvSpPr>
          <p:cNvPr id="9" name="Text 7"/>
          <p:cNvSpPr/>
          <p:nvPr/>
        </p:nvSpPr>
        <p:spPr>
          <a:xfrm>
            <a:off x="4626864" y="2377440"/>
            <a:ext cx="2926080" cy="548640"/>
          </a:xfrm>
          <a:prstGeom prst="rect">
            <a:avLst/>
          </a:prstGeom>
          <a:noFill/>
          <a:ln/>
        </p:spPr>
        <p:txBody>
          <a:bodyPr wrap="square" lIns="0" tIns="0" rIns="0" bIns="0" rtlCol="0" anchor="ctr"/>
          <a:lstStyle/>
          <a:p>
            <a:pPr indent="0" marL="0">
              <a:lnSpc>
                <a:spcPts val="1500"/>
              </a:lnSpc>
              <a:buNone/>
            </a:pPr>
            <a:r>
              <a:rPr lang="en-US" sz="1200" dirty="0">
                <a:solidFill>
                  <a:srgbClr val="475569"/>
                </a:solidFill>
                <a:latin typeface="Calibri" pitchFamily="34" charset="0"/>
                <a:ea typeface="Calibri" pitchFamily="34" charset="-122"/>
                <a:cs typeface="Calibri" pitchFamily="34" charset="-120"/>
              </a:rPr>
              <a:t>roles con app propia:</a:t>
            </a:r>
            <a:endParaRPr lang="en-US" sz="1200" dirty="0"/>
          </a:p>
          <a:p>
            <a:pPr indent="0" marL="0">
              <a:lnSpc>
                <a:spcPts val="1500"/>
              </a:lnSpc>
              <a:buNone/>
            </a:pPr>
            <a:r>
              <a:rPr lang="en-US" sz="1200" dirty="0">
                <a:solidFill>
                  <a:srgbClr val="475569"/>
                </a:solidFill>
                <a:latin typeface="Calibri" pitchFamily="34" charset="0"/>
                <a:ea typeface="Calibri" pitchFamily="34" charset="-122"/>
                <a:cs typeface="Calibri" pitchFamily="34" charset="-120"/>
              </a:rPr>
              <a:t>entrenador y cliente</a:t>
            </a:r>
            <a:endParaRPr lang="en-US" sz="1200" dirty="0"/>
          </a:p>
        </p:txBody>
      </p:sp>
      <p:sp>
        <p:nvSpPr>
          <p:cNvPr id="10" name="Shape 8"/>
          <p:cNvSpPr/>
          <p:nvPr/>
        </p:nvSpPr>
        <p:spPr>
          <a:xfrm>
            <a:off x="8065008" y="1463040"/>
            <a:ext cx="3502152" cy="1600200"/>
          </a:xfrm>
          <a:prstGeom prst="roundRect">
            <a:avLst>
              <a:gd name="adj" fmla="val 6857"/>
            </a:avLst>
          </a:prstGeom>
          <a:solidFill>
            <a:srgbClr val="F1F5F9"/>
          </a:solidFill>
          <a:ln w="12700">
            <a:solidFill>
              <a:srgbClr val="F1F5F9"/>
            </a:solidFill>
            <a:prstDash val="solid"/>
          </a:ln>
        </p:spPr>
      </p:sp>
      <p:sp>
        <p:nvSpPr>
          <p:cNvPr id="11" name="Text 9"/>
          <p:cNvSpPr/>
          <p:nvPr/>
        </p:nvSpPr>
        <p:spPr>
          <a:xfrm>
            <a:off x="8339328" y="1600200"/>
            <a:ext cx="2926080" cy="731520"/>
          </a:xfrm>
          <a:prstGeom prst="rect">
            <a:avLst/>
          </a:prstGeom>
          <a:noFill/>
          <a:ln/>
        </p:spPr>
        <p:txBody>
          <a:bodyPr wrap="square" lIns="0" tIns="0" rIns="0" bIns="0" rtlCol="0" anchor="ctr"/>
          <a:lstStyle/>
          <a:p>
            <a:pPr indent="0" marL="0">
              <a:buNone/>
            </a:pPr>
            <a:r>
              <a:rPr lang="en-US" sz="4000" b="1" dirty="0">
                <a:solidFill>
                  <a:srgbClr val="2563EB"/>
                </a:solidFill>
                <a:latin typeface="Cambria" pitchFamily="34" charset="0"/>
                <a:ea typeface="Cambria" pitchFamily="34" charset="-122"/>
                <a:cs typeface="Cambria" pitchFamily="34" charset="-120"/>
              </a:rPr>
              <a:t>0</a:t>
            </a:r>
            <a:endParaRPr lang="en-US" sz="4000" dirty="0"/>
          </a:p>
        </p:txBody>
      </p:sp>
      <p:sp>
        <p:nvSpPr>
          <p:cNvPr id="12" name="Text 10"/>
          <p:cNvSpPr/>
          <p:nvPr/>
        </p:nvSpPr>
        <p:spPr>
          <a:xfrm>
            <a:off x="8339328" y="2377440"/>
            <a:ext cx="2926080" cy="548640"/>
          </a:xfrm>
          <a:prstGeom prst="rect">
            <a:avLst/>
          </a:prstGeom>
          <a:noFill/>
          <a:ln/>
        </p:spPr>
        <p:txBody>
          <a:bodyPr wrap="square" lIns="0" tIns="0" rIns="0" bIns="0" rtlCol="0" anchor="ctr"/>
          <a:lstStyle/>
          <a:p>
            <a:pPr indent="0" marL="0">
              <a:lnSpc>
                <a:spcPts val="1500"/>
              </a:lnSpc>
              <a:buNone/>
            </a:pPr>
            <a:r>
              <a:rPr lang="en-US" sz="1200" dirty="0">
                <a:solidFill>
                  <a:srgbClr val="475569"/>
                </a:solidFill>
                <a:latin typeface="Calibri" pitchFamily="34" charset="0"/>
                <a:ea typeface="Calibri" pitchFamily="34" charset="-122"/>
                <a:cs typeface="Calibri" pitchFamily="34" charset="-120"/>
              </a:rPr>
              <a:t>deuda de accesibilidad:</a:t>
            </a:r>
            <a:endParaRPr lang="en-US" sz="1200" dirty="0"/>
          </a:p>
          <a:p>
            <a:pPr indent="0" marL="0">
              <a:lnSpc>
                <a:spcPts val="1500"/>
              </a:lnSpc>
              <a:buNone/>
            </a:pPr>
            <a:r>
              <a:rPr lang="en-US" sz="1200" dirty="0">
                <a:solidFill>
                  <a:srgbClr val="475569"/>
                </a:solidFill>
                <a:latin typeface="Calibri" pitchFamily="34" charset="0"/>
                <a:ea typeface="Calibri" pitchFamily="34" charset="-122"/>
                <a:cs typeface="Calibri" pitchFamily="34" charset="-120"/>
              </a:rPr>
              <a:t>cumple WCAG 2.1 AA</a:t>
            </a:r>
            <a:endParaRPr lang="en-US" sz="1200" dirty="0"/>
          </a:p>
        </p:txBody>
      </p:sp>
      <p:sp>
        <p:nvSpPr>
          <p:cNvPr id="13" name="Text 11"/>
          <p:cNvSpPr/>
          <p:nvPr/>
        </p:nvSpPr>
        <p:spPr>
          <a:xfrm>
            <a:off x="640080" y="3383280"/>
            <a:ext cx="10881360" cy="320040"/>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Construido sobre una base seria</a:t>
            </a:r>
            <a:endParaRPr lang="en-US" sz="1600" dirty="0"/>
          </a:p>
        </p:txBody>
      </p:sp>
      <p:sp>
        <p:nvSpPr>
          <p:cNvPr id="14" name="Shape 12"/>
          <p:cNvSpPr/>
          <p:nvPr/>
        </p:nvSpPr>
        <p:spPr>
          <a:xfrm>
            <a:off x="640080" y="3840480"/>
            <a:ext cx="502920" cy="502920"/>
          </a:xfrm>
          <a:prstGeom prst="ellipse">
            <a:avLst/>
          </a:prstGeom>
          <a:solidFill>
            <a:srgbClr val="2563EB"/>
          </a:solidFill>
          <a:ln/>
        </p:spPr>
      </p:sp>
      <p:sp>
        <p:nvSpPr>
          <p:cNvPr id="15" name="Text 13"/>
          <p:cNvSpPr/>
          <p:nvPr/>
        </p:nvSpPr>
        <p:spPr>
          <a:xfrm>
            <a:off x="640080"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325880" y="3858768"/>
            <a:ext cx="9875520" cy="256032"/>
          </a:xfrm>
          <a:prstGeom prst="rect">
            <a:avLst/>
          </a:prstGeom>
          <a:noFill/>
          <a:ln/>
        </p:spPr>
        <p:txBody>
          <a:bodyPr wrap="square" lIns="0" tIns="0" rIns="0" bIns="0" rtlCol="0" anchor="ctr"/>
          <a:lstStyle/>
          <a:p>
            <a:pPr indent="0" marL="0">
              <a:buNone/>
            </a:pPr>
            <a:r>
              <a:rPr lang="en-US" sz="1350" b="1" dirty="0">
                <a:solidFill>
                  <a:srgbClr val="0A1628"/>
                </a:solidFill>
                <a:latin typeface="Calibri" pitchFamily="34" charset="0"/>
                <a:ea typeface="Calibri" pitchFamily="34" charset="-122"/>
                <a:cs typeface="Calibri" pitchFamily="34" charset="-120"/>
              </a:rPr>
              <a:t>Multi-tenant desde el día uno</a:t>
            </a:r>
            <a:endParaRPr lang="en-US" sz="1350" dirty="0"/>
          </a:p>
        </p:txBody>
      </p:sp>
      <p:sp>
        <p:nvSpPr>
          <p:cNvPr id="17" name="Text 15"/>
          <p:cNvSpPr/>
          <p:nvPr/>
        </p:nvSpPr>
        <p:spPr>
          <a:xfrm>
            <a:off x="1325880" y="4133088"/>
            <a:ext cx="9875520" cy="32004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Cada entrenador ve solo sus datos, con aislamiento a nivel de base de datos (RLS). Escala a miles sin rehacer nada.</a:t>
            </a:r>
            <a:endParaRPr lang="en-US" sz="1150" dirty="0"/>
          </a:p>
        </p:txBody>
      </p:sp>
      <p:sp>
        <p:nvSpPr>
          <p:cNvPr id="18" name="Shape 16"/>
          <p:cNvSpPr/>
          <p:nvPr/>
        </p:nvSpPr>
        <p:spPr>
          <a:xfrm>
            <a:off x="640080" y="4617720"/>
            <a:ext cx="502920" cy="502920"/>
          </a:xfrm>
          <a:prstGeom prst="ellipse">
            <a:avLst/>
          </a:prstGeom>
          <a:solidFill>
            <a:srgbClr val="2563EB"/>
          </a:solidFill>
          <a:ln/>
        </p:spPr>
      </p:sp>
      <p:sp>
        <p:nvSpPr>
          <p:cNvPr id="19" name="Text 17"/>
          <p:cNvSpPr/>
          <p:nvPr/>
        </p:nvSpPr>
        <p:spPr>
          <a:xfrm>
            <a:off x="640080" y="4617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1325880" y="4636008"/>
            <a:ext cx="9875520" cy="256032"/>
          </a:xfrm>
          <a:prstGeom prst="rect">
            <a:avLst/>
          </a:prstGeom>
          <a:noFill/>
          <a:ln/>
        </p:spPr>
        <p:txBody>
          <a:bodyPr wrap="square" lIns="0" tIns="0" rIns="0" bIns="0" rtlCol="0" anchor="ctr"/>
          <a:lstStyle/>
          <a:p>
            <a:pPr indent="0" marL="0">
              <a:buNone/>
            </a:pPr>
            <a:r>
              <a:rPr lang="en-US" sz="1350" b="1" dirty="0">
                <a:solidFill>
                  <a:srgbClr val="0A1628"/>
                </a:solidFill>
                <a:latin typeface="Calibri" pitchFamily="34" charset="0"/>
                <a:ea typeface="Calibri" pitchFamily="34" charset="-122"/>
                <a:cs typeface="Calibri" pitchFamily="34" charset="-120"/>
              </a:rPr>
              <a:t>Infraestructura europea</a:t>
            </a:r>
            <a:endParaRPr lang="en-US" sz="1350" dirty="0"/>
          </a:p>
        </p:txBody>
      </p:sp>
      <p:sp>
        <p:nvSpPr>
          <p:cNvPr id="21" name="Text 19"/>
          <p:cNvSpPr/>
          <p:nvPr/>
        </p:nvSpPr>
        <p:spPr>
          <a:xfrm>
            <a:off x="1325880" y="4910328"/>
            <a:ext cx="9875520" cy="32004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Datos alojados en la UE. Diseñado con RGPD en mente, no parcheado después.</a:t>
            </a:r>
            <a:endParaRPr lang="en-US" sz="1150" dirty="0"/>
          </a:p>
        </p:txBody>
      </p:sp>
      <p:sp>
        <p:nvSpPr>
          <p:cNvPr id="22" name="Shape 20"/>
          <p:cNvSpPr/>
          <p:nvPr/>
        </p:nvSpPr>
        <p:spPr>
          <a:xfrm>
            <a:off x="640080" y="5394960"/>
            <a:ext cx="502920" cy="502920"/>
          </a:xfrm>
          <a:prstGeom prst="ellipse">
            <a:avLst/>
          </a:prstGeom>
          <a:solidFill>
            <a:srgbClr val="2563EB"/>
          </a:solidFill>
          <a:ln/>
        </p:spPr>
      </p:sp>
      <p:sp>
        <p:nvSpPr>
          <p:cNvPr id="23" name="Text 21"/>
          <p:cNvSpPr/>
          <p:nvPr/>
        </p:nvSpPr>
        <p:spPr>
          <a:xfrm>
            <a:off x="640080" y="5394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1325880" y="5413248"/>
            <a:ext cx="9875520" cy="256032"/>
          </a:xfrm>
          <a:prstGeom prst="rect">
            <a:avLst/>
          </a:prstGeom>
          <a:noFill/>
          <a:ln/>
        </p:spPr>
        <p:txBody>
          <a:bodyPr wrap="square" lIns="0" tIns="0" rIns="0" bIns="0" rtlCol="0" anchor="ctr"/>
          <a:lstStyle/>
          <a:p>
            <a:pPr indent="0" marL="0">
              <a:buNone/>
            </a:pPr>
            <a:r>
              <a:rPr lang="en-US" sz="1350" b="1" dirty="0">
                <a:solidFill>
                  <a:srgbClr val="0A1628"/>
                </a:solidFill>
                <a:latin typeface="Calibri" pitchFamily="34" charset="0"/>
                <a:ea typeface="Calibri" pitchFamily="34" charset="-122"/>
                <a:cs typeface="Calibri" pitchFamily="34" charset="-120"/>
              </a:rPr>
              <a:t>Stack moderno y barato de operar</a:t>
            </a:r>
            <a:endParaRPr lang="en-US" sz="1350" dirty="0"/>
          </a:p>
        </p:txBody>
      </p:sp>
      <p:sp>
        <p:nvSpPr>
          <p:cNvPr id="25" name="Text 23"/>
          <p:cNvSpPr/>
          <p:nvPr/>
        </p:nvSpPr>
        <p:spPr>
          <a:xfrm>
            <a:off x="1325880" y="5687568"/>
            <a:ext cx="9875520" cy="32004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SvelteKit + Supabase + Vercel: coste marginal por entrenador muy bajo.</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DIFERENCIADOR</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Corrección de técnica en remoto, sin reventar costes</a:t>
            </a:r>
            <a:endParaRPr lang="en-US" sz="3400" dirty="0"/>
          </a:p>
        </p:txBody>
      </p:sp>
      <p:sp>
        <p:nvSpPr>
          <p:cNvPr id="4" name="Text 2"/>
          <p:cNvSpPr/>
          <p:nvPr/>
        </p:nvSpPr>
        <p:spPr>
          <a:xfrm>
            <a:off x="640080" y="1371600"/>
            <a:ext cx="10881360" cy="45720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El cliente graba un minuto ejecutando el ejercicio. Su entrenador lo revisa y le devuelve la corrección dentro de la app.</a:t>
            </a:r>
            <a:endParaRPr lang="en-US" sz="1400" dirty="0"/>
          </a:p>
        </p:txBody>
      </p:sp>
      <p:sp>
        <p:nvSpPr>
          <p:cNvPr id="5" name="Shape 3"/>
          <p:cNvSpPr/>
          <p:nvPr/>
        </p:nvSpPr>
        <p:spPr>
          <a:xfrm>
            <a:off x="640080" y="2011680"/>
            <a:ext cx="2697480" cy="2194560"/>
          </a:xfrm>
          <a:prstGeom prst="roundRect">
            <a:avLst>
              <a:gd name="adj" fmla="val 5000"/>
            </a:avLst>
          </a:prstGeom>
          <a:solidFill>
            <a:srgbClr val="122340"/>
          </a:solidFill>
          <a:ln w="12700">
            <a:solidFill>
              <a:srgbClr val="122340"/>
            </a:solidFill>
            <a:prstDash val="solid"/>
          </a:ln>
        </p:spPr>
      </p:sp>
      <p:sp>
        <p:nvSpPr>
          <p:cNvPr id="6" name="Shape 4"/>
          <p:cNvSpPr/>
          <p:nvPr/>
        </p:nvSpPr>
        <p:spPr>
          <a:xfrm>
            <a:off x="896112" y="2240280"/>
            <a:ext cx="502920" cy="502920"/>
          </a:xfrm>
          <a:prstGeom prst="ellipse">
            <a:avLst/>
          </a:prstGeom>
          <a:solidFill>
            <a:srgbClr val="38BDF8"/>
          </a:solidFill>
          <a:ln/>
        </p:spPr>
      </p:sp>
      <p:sp>
        <p:nvSpPr>
          <p:cNvPr id="7" name="Text 5"/>
          <p:cNvSpPr/>
          <p:nvPr/>
        </p:nvSpPr>
        <p:spPr>
          <a:xfrm>
            <a:off x="896112"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96112" y="2880360"/>
            <a:ext cx="219456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El cliente graba</a:t>
            </a:r>
            <a:endParaRPr lang="en-US" sz="1400" dirty="0"/>
          </a:p>
        </p:txBody>
      </p:sp>
      <p:sp>
        <p:nvSpPr>
          <p:cNvPr id="9" name="Text 7"/>
          <p:cNvSpPr/>
          <p:nvPr/>
        </p:nvSpPr>
        <p:spPr>
          <a:xfrm>
            <a:off x="896112" y="3200400"/>
            <a:ext cx="2240280" cy="822960"/>
          </a:xfrm>
          <a:prstGeom prst="rect">
            <a:avLst/>
          </a:prstGeom>
          <a:noFill/>
          <a:ln/>
        </p:spPr>
        <p:txBody>
          <a:bodyPr wrap="square" lIns="0" tIns="0" rIns="0" bIns="0" rtlCol="0" anchor="ctr"/>
          <a:lstStyle/>
          <a:p>
            <a:pPr indent="0" marL="0">
              <a:lnSpc>
                <a:spcPts val="1500"/>
              </a:lnSpc>
              <a:buNone/>
            </a:pPr>
            <a:r>
              <a:rPr lang="en-US" sz="1100" dirty="0">
                <a:solidFill>
                  <a:srgbClr val="94A3B8"/>
                </a:solidFill>
                <a:latin typeface="Calibri" pitchFamily="34" charset="0"/>
                <a:ea typeface="Calibri" pitchFamily="34" charset="-122"/>
                <a:cs typeface="Calibri" pitchFamily="34" charset="-120"/>
              </a:rPr>
              <a:t>Un vídeo de máximo 1 minuto desde el móvil, en el propio ejercicio.</a:t>
            </a:r>
            <a:endParaRPr lang="en-US" sz="1100" dirty="0"/>
          </a:p>
        </p:txBody>
      </p:sp>
      <p:sp>
        <p:nvSpPr>
          <p:cNvPr id="10" name="Shape 8"/>
          <p:cNvSpPr/>
          <p:nvPr/>
        </p:nvSpPr>
        <p:spPr>
          <a:xfrm>
            <a:off x="3474720" y="2011680"/>
            <a:ext cx="2697480" cy="2194560"/>
          </a:xfrm>
          <a:prstGeom prst="roundRect">
            <a:avLst>
              <a:gd name="adj" fmla="val 5000"/>
            </a:avLst>
          </a:prstGeom>
          <a:solidFill>
            <a:srgbClr val="122340"/>
          </a:solidFill>
          <a:ln w="12700">
            <a:solidFill>
              <a:srgbClr val="122340"/>
            </a:solidFill>
            <a:prstDash val="solid"/>
          </a:ln>
        </p:spPr>
      </p:sp>
      <p:sp>
        <p:nvSpPr>
          <p:cNvPr id="11" name="Shape 9"/>
          <p:cNvSpPr/>
          <p:nvPr/>
        </p:nvSpPr>
        <p:spPr>
          <a:xfrm>
            <a:off x="3730752" y="2240280"/>
            <a:ext cx="502920" cy="502920"/>
          </a:xfrm>
          <a:prstGeom prst="ellipse">
            <a:avLst/>
          </a:prstGeom>
          <a:solidFill>
            <a:srgbClr val="38BDF8"/>
          </a:solidFill>
          <a:ln/>
        </p:spPr>
      </p:sp>
      <p:sp>
        <p:nvSpPr>
          <p:cNvPr id="12" name="Text 10"/>
          <p:cNvSpPr/>
          <p:nvPr/>
        </p:nvSpPr>
        <p:spPr>
          <a:xfrm>
            <a:off x="3730752"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3730752" y="2880360"/>
            <a:ext cx="219456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Se guarda acotado</a:t>
            </a:r>
            <a:endParaRPr lang="en-US" sz="1400" dirty="0"/>
          </a:p>
        </p:txBody>
      </p:sp>
      <p:sp>
        <p:nvSpPr>
          <p:cNvPr id="14" name="Text 12"/>
          <p:cNvSpPr/>
          <p:nvPr/>
        </p:nvSpPr>
        <p:spPr>
          <a:xfrm>
            <a:off x="3730752" y="3200400"/>
            <a:ext cx="2240280" cy="822960"/>
          </a:xfrm>
          <a:prstGeom prst="rect">
            <a:avLst/>
          </a:prstGeom>
          <a:noFill/>
          <a:ln/>
        </p:spPr>
        <p:txBody>
          <a:bodyPr wrap="square" lIns="0" tIns="0" rIns="0" bIns="0" rtlCol="0" anchor="ctr"/>
          <a:lstStyle/>
          <a:p>
            <a:pPr indent="0" marL="0">
              <a:lnSpc>
                <a:spcPts val="1500"/>
              </a:lnSpc>
              <a:buNone/>
            </a:pPr>
            <a:r>
              <a:rPr lang="en-US" sz="1100" dirty="0">
                <a:solidFill>
                  <a:srgbClr val="94A3B8"/>
                </a:solidFill>
                <a:latin typeface="Calibri" pitchFamily="34" charset="0"/>
                <a:ea typeface="Calibri" pitchFamily="34" charset="-122"/>
                <a:cs typeface="Calibri" pitchFamily="34" charset="-120"/>
              </a:rPr>
              <a:t>Solo 2 vídeos por ejercicio: el primero y el más reciente.</a:t>
            </a:r>
            <a:endParaRPr lang="en-US" sz="1100" dirty="0"/>
          </a:p>
        </p:txBody>
      </p:sp>
      <p:sp>
        <p:nvSpPr>
          <p:cNvPr id="15" name="Shape 13"/>
          <p:cNvSpPr/>
          <p:nvPr/>
        </p:nvSpPr>
        <p:spPr>
          <a:xfrm>
            <a:off x="6309360" y="2011680"/>
            <a:ext cx="2697480" cy="2194560"/>
          </a:xfrm>
          <a:prstGeom prst="roundRect">
            <a:avLst>
              <a:gd name="adj" fmla="val 5000"/>
            </a:avLst>
          </a:prstGeom>
          <a:solidFill>
            <a:srgbClr val="122340"/>
          </a:solidFill>
          <a:ln w="12700">
            <a:solidFill>
              <a:srgbClr val="122340"/>
            </a:solidFill>
            <a:prstDash val="solid"/>
          </a:ln>
        </p:spPr>
      </p:sp>
      <p:sp>
        <p:nvSpPr>
          <p:cNvPr id="16" name="Shape 14"/>
          <p:cNvSpPr/>
          <p:nvPr/>
        </p:nvSpPr>
        <p:spPr>
          <a:xfrm>
            <a:off x="6565392" y="2240280"/>
            <a:ext cx="502920" cy="502920"/>
          </a:xfrm>
          <a:prstGeom prst="ellipse">
            <a:avLst/>
          </a:prstGeom>
          <a:solidFill>
            <a:srgbClr val="38BDF8"/>
          </a:solidFill>
          <a:ln/>
        </p:spPr>
      </p:sp>
      <p:sp>
        <p:nvSpPr>
          <p:cNvPr id="17" name="Text 15"/>
          <p:cNvSpPr/>
          <p:nvPr/>
        </p:nvSpPr>
        <p:spPr>
          <a:xfrm>
            <a:off x="6565392"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6565392" y="2880360"/>
            <a:ext cx="219456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El entrenador corrige</a:t>
            </a:r>
            <a:endParaRPr lang="en-US" sz="1400" dirty="0"/>
          </a:p>
        </p:txBody>
      </p:sp>
      <p:sp>
        <p:nvSpPr>
          <p:cNvPr id="19" name="Text 17"/>
          <p:cNvSpPr/>
          <p:nvPr/>
        </p:nvSpPr>
        <p:spPr>
          <a:xfrm>
            <a:off x="6565392" y="3200400"/>
            <a:ext cx="2240280" cy="822960"/>
          </a:xfrm>
          <a:prstGeom prst="rect">
            <a:avLst/>
          </a:prstGeom>
          <a:noFill/>
          <a:ln/>
        </p:spPr>
        <p:txBody>
          <a:bodyPr wrap="square" lIns="0" tIns="0" rIns="0" bIns="0" rtlCol="0" anchor="ctr"/>
          <a:lstStyle/>
          <a:p>
            <a:pPr indent="0" marL="0">
              <a:lnSpc>
                <a:spcPts val="1500"/>
              </a:lnSpc>
              <a:buNone/>
            </a:pPr>
            <a:r>
              <a:rPr lang="en-US" sz="1100" dirty="0">
                <a:solidFill>
                  <a:srgbClr val="94A3B8"/>
                </a:solidFill>
                <a:latin typeface="Calibri" pitchFamily="34" charset="0"/>
                <a:ea typeface="Calibri" pitchFamily="34" charset="-122"/>
                <a:cs typeface="Calibri" pitchFamily="34" charset="-120"/>
              </a:rPr>
              <a:t>Ve el antes y el después en paralelo y escribe la corrección.</a:t>
            </a:r>
            <a:endParaRPr lang="en-US" sz="1100" dirty="0"/>
          </a:p>
        </p:txBody>
      </p:sp>
      <p:sp>
        <p:nvSpPr>
          <p:cNvPr id="20" name="Shape 18"/>
          <p:cNvSpPr/>
          <p:nvPr/>
        </p:nvSpPr>
        <p:spPr>
          <a:xfrm>
            <a:off x="9144000" y="2011680"/>
            <a:ext cx="2697480" cy="2194560"/>
          </a:xfrm>
          <a:prstGeom prst="roundRect">
            <a:avLst>
              <a:gd name="adj" fmla="val 5000"/>
            </a:avLst>
          </a:prstGeom>
          <a:solidFill>
            <a:srgbClr val="122340"/>
          </a:solidFill>
          <a:ln w="12700">
            <a:solidFill>
              <a:srgbClr val="122340"/>
            </a:solidFill>
            <a:prstDash val="solid"/>
          </a:ln>
        </p:spPr>
      </p:sp>
      <p:sp>
        <p:nvSpPr>
          <p:cNvPr id="21" name="Shape 19"/>
          <p:cNvSpPr/>
          <p:nvPr/>
        </p:nvSpPr>
        <p:spPr>
          <a:xfrm>
            <a:off x="9400032" y="2240280"/>
            <a:ext cx="502920" cy="502920"/>
          </a:xfrm>
          <a:prstGeom prst="ellipse">
            <a:avLst/>
          </a:prstGeom>
          <a:solidFill>
            <a:srgbClr val="38BDF8"/>
          </a:solidFill>
          <a:ln/>
        </p:spPr>
      </p:sp>
      <p:sp>
        <p:nvSpPr>
          <p:cNvPr id="22" name="Text 20"/>
          <p:cNvSpPr/>
          <p:nvPr/>
        </p:nvSpPr>
        <p:spPr>
          <a:xfrm>
            <a:off x="9400032"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9400032" y="2880360"/>
            <a:ext cx="219456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El cliente mejora</a:t>
            </a:r>
            <a:endParaRPr lang="en-US" sz="1400" dirty="0"/>
          </a:p>
        </p:txBody>
      </p:sp>
      <p:sp>
        <p:nvSpPr>
          <p:cNvPr id="24" name="Text 22"/>
          <p:cNvSpPr/>
          <p:nvPr/>
        </p:nvSpPr>
        <p:spPr>
          <a:xfrm>
            <a:off x="9400032" y="3200400"/>
            <a:ext cx="2240280" cy="822960"/>
          </a:xfrm>
          <a:prstGeom prst="rect">
            <a:avLst/>
          </a:prstGeom>
          <a:noFill/>
          <a:ln/>
        </p:spPr>
        <p:txBody>
          <a:bodyPr wrap="square" lIns="0" tIns="0" rIns="0" bIns="0" rtlCol="0" anchor="ctr"/>
          <a:lstStyle/>
          <a:p>
            <a:pPr indent="0" marL="0">
              <a:lnSpc>
                <a:spcPts val="1500"/>
              </a:lnSpc>
              <a:buNone/>
            </a:pPr>
            <a:r>
              <a:rPr lang="en-US" sz="1100" dirty="0">
                <a:solidFill>
                  <a:srgbClr val="94A3B8"/>
                </a:solidFill>
                <a:latin typeface="Calibri" pitchFamily="34" charset="0"/>
                <a:ea typeface="Calibri" pitchFamily="34" charset="-122"/>
                <a:cs typeface="Calibri" pitchFamily="34" charset="-120"/>
              </a:rPr>
              <a:t>Recibe el feedback junto a su vídeo y vuelve a grabar.</a:t>
            </a:r>
            <a:endParaRPr lang="en-US" sz="1100" dirty="0"/>
          </a:p>
        </p:txBody>
      </p:sp>
      <p:sp>
        <p:nvSpPr>
          <p:cNvPr id="25" name="Shape 23"/>
          <p:cNvSpPr/>
          <p:nvPr/>
        </p:nvSpPr>
        <p:spPr>
          <a:xfrm>
            <a:off x="640080" y="4526280"/>
            <a:ext cx="10881360" cy="1371600"/>
          </a:xfrm>
          <a:prstGeom prst="roundRect">
            <a:avLst>
              <a:gd name="adj" fmla="val 8000"/>
            </a:avLst>
          </a:prstGeom>
          <a:solidFill>
            <a:srgbClr val="1A2E4A"/>
          </a:solidFill>
          <a:ln w="12700">
            <a:solidFill>
              <a:srgbClr val="1A2E4A"/>
            </a:solidFill>
            <a:prstDash val="solid"/>
          </a:ln>
        </p:spPr>
      </p:sp>
      <p:sp>
        <p:nvSpPr>
          <p:cNvPr id="26" name="Text 24"/>
          <p:cNvSpPr/>
          <p:nvPr/>
        </p:nvSpPr>
        <p:spPr>
          <a:xfrm>
            <a:off x="960120" y="4709160"/>
            <a:ext cx="4572000" cy="27432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Por qué nadie lo hace así</a:t>
            </a:r>
            <a:endParaRPr lang="en-US" sz="1300" dirty="0"/>
          </a:p>
        </p:txBody>
      </p:sp>
      <p:sp>
        <p:nvSpPr>
          <p:cNvPr id="27" name="Text 25"/>
          <p:cNvSpPr/>
          <p:nvPr/>
        </p:nvSpPr>
        <p:spPr>
          <a:xfrm>
            <a:off x="960120" y="5029200"/>
            <a:ext cx="10241280" cy="777240"/>
          </a:xfrm>
          <a:prstGeom prst="rect">
            <a:avLst/>
          </a:prstGeom>
          <a:noFill/>
          <a:ln/>
        </p:spPr>
        <p:txBody>
          <a:bodyPr wrap="square" lIns="0" tIns="0" rIns="0" bIns="0" rtlCol="0" anchor="ctr"/>
          <a:lstStyle/>
          <a:p>
            <a:pPr indent="0" marL="0">
              <a:lnSpc>
                <a:spcPts val="1700"/>
              </a:lnSpc>
              <a:buNone/>
            </a:pPr>
            <a:r>
              <a:rPr lang="en-US" sz="1200" dirty="0">
                <a:solidFill>
                  <a:srgbClr val="F1F5F9"/>
                </a:solidFill>
                <a:latin typeface="Calibri" pitchFamily="34" charset="0"/>
                <a:ea typeface="Calibri" pitchFamily="34" charset="-122"/>
                <a:cs typeface="Calibri" pitchFamily="34" charset="-120"/>
              </a:rPr>
              <a:t>El vídeo es caro de almacenar. Al conservar solo dos por ejercicio —el primero como referencia y el último sobrescribiéndose— el coste queda acotado por diseño, y el cliente sigue viendo su evolución. Convierte un coste variable descontrolado en uno predecible.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MERCADO</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Un sector grande, en crecimiento y aún sin digitalizar</a:t>
            </a:r>
            <a:endParaRPr lang="en-US" sz="3400" dirty="0"/>
          </a:p>
        </p:txBody>
      </p:sp>
      <p:sp>
        <p:nvSpPr>
          <p:cNvPr id="4" name="Shape 2"/>
          <p:cNvSpPr/>
          <p:nvPr/>
        </p:nvSpPr>
        <p:spPr>
          <a:xfrm>
            <a:off x="640080" y="1417320"/>
            <a:ext cx="3502152" cy="1554480"/>
          </a:xfrm>
          <a:prstGeom prst="roundRect">
            <a:avLst>
              <a:gd name="adj" fmla="val 7059"/>
            </a:avLst>
          </a:prstGeom>
          <a:solidFill>
            <a:srgbClr val="0A1628"/>
          </a:solidFill>
          <a:ln w="12700">
            <a:solidFill>
              <a:srgbClr val="0A1628"/>
            </a:solidFill>
            <a:prstDash val="solid"/>
          </a:ln>
        </p:spPr>
      </p:sp>
      <p:sp>
        <p:nvSpPr>
          <p:cNvPr id="5" name="Text 3"/>
          <p:cNvSpPr/>
          <p:nvPr/>
        </p:nvSpPr>
        <p:spPr>
          <a:xfrm>
            <a:off x="914400" y="1554480"/>
            <a:ext cx="2926080" cy="685800"/>
          </a:xfrm>
          <a:prstGeom prst="rect">
            <a:avLst/>
          </a:prstGeom>
          <a:noFill/>
          <a:ln/>
        </p:spPr>
        <p:txBody>
          <a:bodyPr wrap="square" lIns="0" tIns="0" rIns="0" bIns="0" rtlCol="0" anchor="ctr"/>
          <a:lstStyle/>
          <a:p>
            <a:pPr indent="0" marL="0">
              <a:buNone/>
            </a:pPr>
            <a:r>
              <a:rPr lang="en-US" sz="3600" b="1" dirty="0">
                <a:solidFill>
                  <a:srgbClr val="38BDF8"/>
                </a:solidFill>
                <a:latin typeface="Cambria" pitchFamily="34" charset="0"/>
                <a:ea typeface="Cambria" pitchFamily="34" charset="-122"/>
                <a:cs typeface="Cambria" pitchFamily="34" charset="-120"/>
              </a:rPr>
              <a:t>8,3 M</a:t>
            </a:r>
            <a:endParaRPr lang="en-US" sz="3600" dirty="0"/>
          </a:p>
        </p:txBody>
      </p:sp>
      <p:sp>
        <p:nvSpPr>
          <p:cNvPr id="6" name="Text 4"/>
          <p:cNvSpPr/>
          <p:nvPr/>
        </p:nvSpPr>
        <p:spPr>
          <a:xfrm>
            <a:off x="914400" y="2286000"/>
            <a:ext cx="2926080" cy="54864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usuarios de fitness</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en España (2025)</a:t>
            </a:r>
            <a:endParaRPr lang="en-US" sz="1150" dirty="0"/>
          </a:p>
        </p:txBody>
      </p:sp>
      <p:sp>
        <p:nvSpPr>
          <p:cNvPr id="7" name="Shape 5"/>
          <p:cNvSpPr/>
          <p:nvPr/>
        </p:nvSpPr>
        <p:spPr>
          <a:xfrm>
            <a:off x="4352544" y="1417320"/>
            <a:ext cx="3502152" cy="1554480"/>
          </a:xfrm>
          <a:prstGeom prst="roundRect">
            <a:avLst>
              <a:gd name="adj" fmla="val 7059"/>
            </a:avLst>
          </a:prstGeom>
          <a:solidFill>
            <a:srgbClr val="0A1628"/>
          </a:solidFill>
          <a:ln w="12700">
            <a:solidFill>
              <a:srgbClr val="0A1628"/>
            </a:solidFill>
            <a:prstDash val="solid"/>
          </a:ln>
        </p:spPr>
      </p:sp>
      <p:sp>
        <p:nvSpPr>
          <p:cNvPr id="8" name="Text 6"/>
          <p:cNvSpPr/>
          <p:nvPr/>
        </p:nvSpPr>
        <p:spPr>
          <a:xfrm>
            <a:off x="4626864" y="1554480"/>
            <a:ext cx="2926080" cy="685800"/>
          </a:xfrm>
          <a:prstGeom prst="rect">
            <a:avLst/>
          </a:prstGeom>
          <a:noFill/>
          <a:ln/>
        </p:spPr>
        <p:txBody>
          <a:bodyPr wrap="square" lIns="0" tIns="0" rIns="0" bIns="0" rtlCol="0" anchor="ctr"/>
          <a:lstStyle/>
          <a:p>
            <a:pPr indent="0" marL="0">
              <a:buNone/>
            </a:pPr>
            <a:r>
              <a:rPr lang="en-US" sz="3600" b="1" dirty="0">
                <a:solidFill>
                  <a:srgbClr val="38BDF8"/>
                </a:solidFill>
                <a:latin typeface="Cambria" pitchFamily="34" charset="0"/>
                <a:ea typeface="Cambria" pitchFamily="34" charset="-122"/>
                <a:cs typeface="Cambria" pitchFamily="34" charset="-120"/>
              </a:rPr>
              <a:t>5.806</a:t>
            </a:r>
            <a:endParaRPr lang="en-US" sz="3600" dirty="0"/>
          </a:p>
        </p:txBody>
      </p:sp>
      <p:sp>
        <p:nvSpPr>
          <p:cNvPr id="9" name="Text 7"/>
          <p:cNvSpPr/>
          <p:nvPr/>
        </p:nvSpPr>
        <p:spPr>
          <a:xfrm>
            <a:off x="4626864" y="2286000"/>
            <a:ext cx="2926080" cy="54864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centros fitness</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en España</a:t>
            </a:r>
            <a:endParaRPr lang="en-US" sz="1150" dirty="0"/>
          </a:p>
        </p:txBody>
      </p:sp>
      <p:sp>
        <p:nvSpPr>
          <p:cNvPr id="10" name="Shape 8"/>
          <p:cNvSpPr/>
          <p:nvPr/>
        </p:nvSpPr>
        <p:spPr>
          <a:xfrm>
            <a:off x="8065008" y="1417320"/>
            <a:ext cx="3502152" cy="1554480"/>
          </a:xfrm>
          <a:prstGeom prst="roundRect">
            <a:avLst>
              <a:gd name="adj" fmla="val 7059"/>
            </a:avLst>
          </a:prstGeom>
          <a:solidFill>
            <a:srgbClr val="0A1628"/>
          </a:solidFill>
          <a:ln w="12700">
            <a:solidFill>
              <a:srgbClr val="0A1628"/>
            </a:solidFill>
            <a:prstDash val="solid"/>
          </a:ln>
        </p:spPr>
      </p:sp>
      <p:sp>
        <p:nvSpPr>
          <p:cNvPr id="11" name="Text 9"/>
          <p:cNvSpPr/>
          <p:nvPr/>
        </p:nvSpPr>
        <p:spPr>
          <a:xfrm>
            <a:off x="8339328" y="1554480"/>
            <a:ext cx="2926080" cy="685800"/>
          </a:xfrm>
          <a:prstGeom prst="rect">
            <a:avLst/>
          </a:prstGeom>
          <a:noFill/>
          <a:ln/>
        </p:spPr>
        <p:txBody>
          <a:bodyPr wrap="square" lIns="0" tIns="0" rIns="0" bIns="0" rtlCol="0" anchor="ctr"/>
          <a:lstStyle/>
          <a:p>
            <a:pPr indent="0" marL="0">
              <a:buNone/>
            </a:pPr>
            <a:r>
              <a:rPr lang="en-US" sz="3600" b="1" dirty="0">
                <a:solidFill>
                  <a:srgbClr val="38BDF8"/>
                </a:solidFill>
                <a:latin typeface="Cambria" pitchFamily="34" charset="0"/>
                <a:ea typeface="Cambria" pitchFamily="34" charset="-122"/>
                <a:cs typeface="Cambria" pitchFamily="34" charset="-120"/>
              </a:rPr>
              <a:t>~90.000</a:t>
            </a:r>
            <a:endParaRPr lang="en-US" sz="3600" dirty="0"/>
          </a:p>
        </p:txBody>
      </p:sp>
      <p:sp>
        <p:nvSpPr>
          <p:cNvPr id="12" name="Text 10"/>
          <p:cNvSpPr/>
          <p:nvPr/>
        </p:nvSpPr>
        <p:spPr>
          <a:xfrm>
            <a:off x="8339328" y="2286000"/>
            <a:ext cx="2926080" cy="54864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empleados en el</a:t>
            </a:r>
            <a:endParaRPr lang="en-US" sz="1150" dirty="0"/>
          </a:p>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sector del fitness</a:t>
            </a:r>
            <a:endParaRPr lang="en-US" sz="1150" dirty="0"/>
          </a:p>
        </p:txBody>
      </p:sp>
      <p:sp>
        <p:nvSpPr>
          <p:cNvPr id="13" name="Shape 11"/>
          <p:cNvSpPr/>
          <p:nvPr/>
        </p:nvSpPr>
        <p:spPr>
          <a:xfrm>
            <a:off x="640080" y="3200400"/>
            <a:ext cx="5394960" cy="2651760"/>
          </a:xfrm>
          <a:prstGeom prst="roundRect">
            <a:avLst>
              <a:gd name="adj" fmla="val 4138"/>
            </a:avLst>
          </a:prstGeom>
          <a:solidFill>
            <a:srgbClr val="F1F5F9"/>
          </a:solidFill>
          <a:ln w="12700">
            <a:solidFill>
              <a:srgbClr val="F1F5F9"/>
            </a:solidFill>
            <a:prstDash val="solid"/>
          </a:ln>
        </p:spPr>
      </p:sp>
      <p:sp>
        <p:nvSpPr>
          <p:cNvPr id="14" name="Text 12"/>
          <p:cNvSpPr/>
          <p:nvPr/>
        </p:nvSpPr>
        <p:spPr>
          <a:xfrm>
            <a:off x="914400" y="3429000"/>
            <a:ext cx="4846320" cy="27432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El mercado global de software</a:t>
            </a:r>
            <a:endParaRPr lang="en-US" sz="1400" dirty="0"/>
          </a:p>
        </p:txBody>
      </p:sp>
      <p:sp>
        <p:nvSpPr>
          <p:cNvPr id="15" name="Text 13"/>
          <p:cNvSpPr/>
          <p:nvPr/>
        </p:nvSpPr>
        <p:spPr>
          <a:xfrm>
            <a:off x="914400" y="3749040"/>
            <a:ext cx="4846320" cy="502920"/>
          </a:xfrm>
          <a:prstGeom prst="rect">
            <a:avLst/>
          </a:prstGeom>
          <a:noFill/>
          <a:ln/>
        </p:spPr>
        <p:txBody>
          <a:bodyPr wrap="square" lIns="0" tIns="0" rIns="0" bIns="0" rtlCol="0" anchor="ctr"/>
          <a:lstStyle/>
          <a:p>
            <a:pPr indent="0" marL="0">
              <a:buNone/>
            </a:pPr>
            <a:r>
              <a:rPr lang="en-US" sz="2800" b="1" dirty="0">
                <a:solidFill>
                  <a:srgbClr val="2563EB"/>
                </a:solidFill>
                <a:latin typeface="Cambria" pitchFamily="34" charset="0"/>
                <a:ea typeface="Cambria" pitchFamily="34" charset="-122"/>
                <a:cs typeface="Cambria" pitchFamily="34" charset="-120"/>
              </a:rPr>
              <a:t>~1.800-2.100 M USD</a:t>
            </a:r>
            <a:endParaRPr lang="en-US" sz="2800" dirty="0"/>
          </a:p>
        </p:txBody>
      </p:sp>
      <p:sp>
        <p:nvSpPr>
          <p:cNvPr id="16" name="Text 14"/>
          <p:cNvSpPr/>
          <p:nvPr/>
        </p:nvSpPr>
        <p:spPr>
          <a:xfrm>
            <a:off x="914400" y="4297680"/>
            <a:ext cx="4846320" cy="1280160"/>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es el tamaño estimado del mercado de software para entrenamiento personal (2024-2025), con proyecciones de crecimiento de doble dígito impulsadas por la digitalización del sector.</a:t>
            </a:r>
            <a:endParaRPr lang="en-US" sz="1150" dirty="0"/>
          </a:p>
        </p:txBody>
      </p:sp>
      <p:sp>
        <p:nvSpPr>
          <p:cNvPr id="17" name="Shape 15"/>
          <p:cNvSpPr/>
          <p:nvPr/>
        </p:nvSpPr>
        <p:spPr>
          <a:xfrm>
            <a:off x="6263640" y="3200400"/>
            <a:ext cx="5257800" cy="2651760"/>
          </a:xfrm>
          <a:prstGeom prst="roundRect">
            <a:avLst>
              <a:gd name="adj" fmla="val 4138"/>
            </a:avLst>
          </a:prstGeom>
          <a:solidFill>
            <a:srgbClr val="F1F5F9"/>
          </a:solidFill>
          <a:ln w="12700">
            <a:solidFill>
              <a:srgbClr val="F1F5F9"/>
            </a:solidFill>
            <a:prstDash val="solid"/>
          </a:ln>
        </p:spPr>
      </p:sp>
      <p:sp>
        <p:nvSpPr>
          <p:cNvPr id="18" name="Text 16"/>
          <p:cNvSpPr/>
          <p:nvPr/>
        </p:nvSpPr>
        <p:spPr>
          <a:xfrm>
            <a:off x="6537960" y="3429000"/>
            <a:ext cx="4754880" cy="27432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Nuestro punto de entrada</a:t>
            </a:r>
            <a:endParaRPr lang="en-US" sz="1400" dirty="0"/>
          </a:p>
        </p:txBody>
      </p:sp>
      <p:sp>
        <p:nvSpPr>
          <p:cNvPr id="19" name="Text 17"/>
          <p:cNvSpPr/>
          <p:nvPr/>
        </p:nvSpPr>
        <p:spPr>
          <a:xfrm>
            <a:off x="6537960" y="3749040"/>
            <a:ext cx="4754880" cy="1920240"/>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España y Latinoamérica: las herramientas dominantes son estadounidenses, en inglés y con precios en dólares. Los actores en español son todavía pocos y pequeños.</a:t>
            </a:r>
            <a:endParaRPr lang="en-US" sz="1150" dirty="0"/>
          </a:p>
          <a:p>
            <a:pPr indent="0" marL="0">
              <a:lnSpc>
                <a:spcPts val="1600"/>
              </a:lnSpc>
              <a:buNone/>
            </a:pPr>
            <a:endParaRPr lang="en-US" sz="1150" dirty="0"/>
          </a:p>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Empezamos por el entrenador independiente, el que hoy no usa ningún software porque todos le resultan caros o ajenos.</a:t>
            </a:r>
            <a:endParaRPr lang="en-US" sz="1150" dirty="0"/>
          </a:p>
        </p:txBody>
      </p:sp>
      <p:sp>
        <p:nvSpPr>
          <p:cNvPr id="20" name="Text 18"/>
          <p:cNvSpPr/>
          <p:nvPr/>
        </p:nvSpPr>
        <p:spPr>
          <a:xfrm>
            <a:off x="640080" y="6355080"/>
            <a:ext cx="10881360" cy="274320"/>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Fuentes: Mercado Fitness (sector fitness España 2025) · Deloitte, informe anual del sector del fitness en España · agregado de informes de mercado de software de entrenamiento personal (2024-2025).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COMPETENCIA</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Todos cobran por cliente. Ese es el hueco.</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651760"/>
                <a:gridCol w="2057400"/>
                <a:gridCol w="2057400"/>
                <a:gridCol w="2057400"/>
                <a:gridCol w="2057400"/>
              </a:tblGrid>
              <a:tr h="502920">
                <a:tc>
                  <a:txBody>
                    <a:bodyPr/>
                    <a:lstStyle/>
                    <a:p>
                      <a:pP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A1628"/>
                          </a:solidFill>
                          <a:latin typeface="Calibri" pitchFamily="34" charset="0"/>
                          <a:ea typeface="Calibri" pitchFamily="34" charset="-122"/>
                          <a:cs typeface="Calibri" pitchFamily="34" charset="-120"/>
                        </a:rPr>
                        <a:t>Trainerize</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A1628"/>
                          </a:solidFill>
                          <a:latin typeface="Calibri" pitchFamily="34" charset="0"/>
                          <a:ea typeface="Calibri" pitchFamily="34" charset="-122"/>
                          <a:cs typeface="Calibri" pitchFamily="34" charset="-120"/>
                        </a:rPr>
                        <a:t>TrueCoach</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A1628"/>
                          </a:solidFill>
                          <a:latin typeface="Calibri" pitchFamily="34" charset="0"/>
                          <a:ea typeface="Calibri" pitchFamily="34" charset="-122"/>
                          <a:cs typeface="Calibri" pitchFamily="34" charset="-120"/>
                        </a:rPr>
                        <a:t>Dupla</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Coachify</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502920">
                <a:tc>
                  <a:txBody>
                    <a:bodyPr/>
                    <a:lstStyle/>
                    <a:p>
                      <a:pPr indent="0" marL="0">
                        <a:buNone/>
                      </a:pPr>
                      <a:r>
                        <a:rPr lang="en-US" sz="1100" b="1" dirty="0">
                          <a:solidFill>
                            <a:srgbClr val="0A1628"/>
                          </a:solidFill>
                          <a:latin typeface="Calibri" pitchFamily="34" charset="0"/>
                          <a:ea typeface="Calibri" pitchFamily="34" charset="-122"/>
                          <a:cs typeface="Calibri" pitchFamily="34" charset="-120"/>
                        </a:rPr>
                        <a:t>Precio / mes</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115-200+ USD</a:t>
                      </a:r>
                      <a:endParaRPr lang="en-US" sz="1100" dirty="0">
                        <a:latin typeface="Calibri" charset="0"/>
                        <a:ea typeface="Calibri" charset="0"/>
                        <a:cs typeface="Calibri" charset="0"/>
                      </a:endParaRPr>
                    </a:p>
                    <a:p>
                      <a:pPr algn="ctr" indent="0" marL="0">
                        <a:buNone/>
                      </a:pPr>
                      <a:r>
                        <a:rPr lang="en-US" sz="1100" dirty="0">
                          <a:solidFill>
                            <a:srgbClr val="475569"/>
                          </a:solidFill>
                          <a:latin typeface="Calibri" pitchFamily="34" charset="0"/>
                          <a:ea typeface="Calibri" pitchFamily="34" charset="-122"/>
                          <a:cs typeface="Calibri" pitchFamily="34" charset="-120"/>
                        </a:rPr>
                        <a:t>con add-ons</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26-165 USD</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15-100 USD</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A1628"/>
                          </a:solidFill>
                          <a:latin typeface="Calibri" pitchFamily="34" charset="0"/>
                          <a:ea typeface="Calibri" pitchFamily="34" charset="-122"/>
                          <a:cs typeface="Calibri" pitchFamily="34" charset="-120"/>
                        </a:rPr>
                        <a:t>Plano, en euros</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7EEFC"/>
                    </a:solidFill>
                  </a:tcPr>
                </a:tc>
              </a:tr>
              <a:tr h="502920">
                <a:tc>
                  <a:txBody>
                    <a:bodyPr/>
                    <a:lstStyle/>
                    <a:p>
                      <a:pPr indent="0" marL="0">
                        <a:buNone/>
                      </a:pPr>
                      <a:r>
                        <a:rPr lang="en-US" sz="1100" b="1" dirty="0">
                          <a:solidFill>
                            <a:srgbClr val="0A1628"/>
                          </a:solidFill>
                          <a:latin typeface="Calibri" pitchFamily="34" charset="0"/>
                          <a:ea typeface="Calibri" pitchFamily="34" charset="-122"/>
                          <a:cs typeface="Calibri" pitchFamily="34" charset="-120"/>
                        </a:rPr>
                        <a:t>Modelo de precio</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B91C1C"/>
                          </a:solidFill>
                          <a:latin typeface="Calibri" pitchFamily="34" charset="0"/>
                          <a:ea typeface="Calibri" pitchFamily="34" charset="-122"/>
                          <a:cs typeface="Calibri" pitchFamily="34" charset="-120"/>
                        </a:rPr>
                        <a:t>Por cliente</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B91C1C"/>
                          </a:solidFill>
                          <a:latin typeface="Calibri" pitchFamily="34" charset="0"/>
                          <a:ea typeface="Calibri" pitchFamily="34" charset="-122"/>
                          <a:cs typeface="Calibri" pitchFamily="34" charset="-120"/>
                        </a:rPr>
                        <a:t>Por cliente</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B91C1C"/>
                          </a:solidFill>
                          <a:latin typeface="Calibri" pitchFamily="34" charset="0"/>
                          <a:ea typeface="Calibri" pitchFamily="34" charset="-122"/>
                          <a:cs typeface="Calibri" pitchFamily="34" charset="-120"/>
                        </a:rPr>
                        <a:t>Por cliente</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A1628"/>
                          </a:solidFill>
                          <a:latin typeface="Calibri" pitchFamily="34" charset="0"/>
                          <a:ea typeface="Calibri" pitchFamily="34" charset="-122"/>
                          <a:cs typeface="Calibri" pitchFamily="34" charset="-120"/>
                        </a:rPr>
                        <a:t>Por entrenador</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7EEFC"/>
                    </a:solidFill>
                  </a:tcPr>
                </a:tc>
              </a:tr>
              <a:tr h="502920">
                <a:tc>
                  <a:txBody>
                    <a:bodyPr/>
                    <a:lstStyle/>
                    <a:p>
                      <a:pPr indent="0" marL="0">
                        <a:buNone/>
                      </a:pPr>
                      <a:r>
                        <a:rPr lang="en-US" sz="1100" b="1" dirty="0">
                          <a:solidFill>
                            <a:srgbClr val="0A1628"/>
                          </a:solidFill>
                          <a:latin typeface="Calibri" pitchFamily="34" charset="0"/>
                          <a:ea typeface="Calibri" pitchFamily="34" charset="-122"/>
                          <a:cs typeface="Calibri" pitchFamily="34" charset="-120"/>
                        </a:rPr>
                        <a:t>Idioma y moneda</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Inglés · USD</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Inglés · USD</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Español · USD</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A1628"/>
                          </a:solidFill>
                          <a:latin typeface="Calibri" pitchFamily="34" charset="0"/>
                          <a:ea typeface="Calibri" pitchFamily="34" charset="-122"/>
                          <a:cs typeface="Calibri" pitchFamily="34" charset="-120"/>
                        </a:rPr>
                        <a:t>Español · EUR</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7EEFC"/>
                    </a:solidFill>
                  </a:tcPr>
                </a:tc>
              </a:tr>
              <a:tr h="502920">
                <a:tc>
                  <a:txBody>
                    <a:bodyPr/>
                    <a:lstStyle/>
                    <a:p>
                      <a:pPr indent="0" marL="0">
                        <a:buNone/>
                      </a:pPr>
                      <a:r>
                        <a:rPr lang="en-US" sz="1100" b="1" dirty="0">
                          <a:solidFill>
                            <a:srgbClr val="0A1628"/>
                          </a:solidFill>
                          <a:latin typeface="Calibri" pitchFamily="34" charset="0"/>
                          <a:ea typeface="Calibri" pitchFamily="34" charset="-122"/>
                          <a:cs typeface="Calibri" pitchFamily="34" charset="-120"/>
                        </a:rPr>
                        <a:t>Agenda y citas</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Sí</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Sí</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A1628"/>
                          </a:solidFill>
                          <a:latin typeface="Calibri" pitchFamily="34" charset="0"/>
                          <a:ea typeface="Calibri" pitchFamily="34" charset="-122"/>
                          <a:cs typeface="Calibri" pitchFamily="34" charset="-120"/>
                        </a:rPr>
                        <a:t>Con huecos reales</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7EEFC"/>
                    </a:solidFill>
                  </a:tcPr>
                </a:tc>
              </a:tr>
              <a:tr h="502920">
                <a:tc>
                  <a:txBody>
                    <a:bodyPr/>
                    <a:lstStyle/>
                    <a:p>
                      <a:pPr indent="0" marL="0">
                        <a:buNone/>
                      </a:pPr>
                      <a:r>
                        <a:rPr lang="en-US" sz="1100" b="1" dirty="0">
                          <a:solidFill>
                            <a:srgbClr val="0A1628"/>
                          </a:solidFill>
                          <a:latin typeface="Calibri" pitchFamily="34" charset="0"/>
                          <a:ea typeface="Calibri" pitchFamily="34" charset="-122"/>
                          <a:cs typeface="Calibri" pitchFamily="34" charset="-120"/>
                        </a:rPr>
                        <a:t>Corrección de técnica</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Vídeo sin límite</a:t>
                      </a:r>
                      <a:endParaRPr lang="en-US" sz="1100" dirty="0">
                        <a:latin typeface="Calibri" charset="0"/>
                        <a:ea typeface="Calibri" charset="0"/>
                        <a:cs typeface="Calibri" charset="0"/>
                      </a:endParaRPr>
                    </a:p>
                    <a:p>
                      <a:pPr algn="ctr" indent="0" marL="0">
                        <a:buNone/>
                      </a:pPr>
                      <a:r>
                        <a:rPr lang="en-US" sz="1100" dirty="0">
                          <a:solidFill>
                            <a:srgbClr val="475569"/>
                          </a:solidFill>
                          <a:latin typeface="Calibri" pitchFamily="34" charset="0"/>
                          <a:ea typeface="Calibri" pitchFamily="34" charset="-122"/>
                          <a:cs typeface="Calibri" pitchFamily="34" charset="-120"/>
                        </a:rPr>
                        <a:t>(coste alto)</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Vídeo sin límite</a:t>
                      </a:r>
                      <a:endParaRPr lang="en-US" sz="1100" dirty="0">
                        <a:latin typeface="Calibri" charset="0"/>
                        <a:ea typeface="Calibri" charset="0"/>
                        <a:cs typeface="Calibri" charset="0"/>
                      </a:endParaRPr>
                    </a:p>
                    <a:p>
                      <a:pPr algn="ctr" indent="0" marL="0">
                        <a:buNone/>
                      </a:pPr>
                      <a:r>
                        <a:rPr lang="en-US" sz="1100" dirty="0">
                          <a:solidFill>
                            <a:srgbClr val="475569"/>
                          </a:solidFill>
                          <a:latin typeface="Calibri" pitchFamily="34" charset="0"/>
                          <a:ea typeface="Calibri" pitchFamily="34" charset="-122"/>
                          <a:cs typeface="Calibri" pitchFamily="34" charset="-120"/>
                        </a:rPr>
                        <a:t>(coste alto)</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A1628"/>
                          </a:solidFill>
                          <a:latin typeface="Calibri" pitchFamily="34" charset="0"/>
                          <a:ea typeface="Calibri" pitchFamily="34" charset="-122"/>
                          <a:cs typeface="Calibri" pitchFamily="34" charset="-120"/>
                        </a:rPr>
                        <a:t>Antes/después</a:t>
                      </a:r>
                      <a:endParaRPr lang="en-US" sz="1100" dirty="0">
                        <a:latin typeface="Calibri" charset="0"/>
                        <a:ea typeface="Calibri" charset="0"/>
                        <a:cs typeface="Calibri" charset="0"/>
                      </a:endParaRPr>
                    </a:p>
                    <a:p>
                      <a:pPr algn="ctr" indent="0" marL="0">
                        <a:buNone/>
                      </a:pPr>
                      <a:r>
                        <a:rPr lang="en-US" sz="1100" dirty="0">
                          <a:solidFill>
                            <a:srgbClr val="0A1628"/>
                          </a:solidFill>
                          <a:latin typeface="Calibri" pitchFamily="34" charset="0"/>
                          <a:ea typeface="Calibri" pitchFamily="34" charset="-122"/>
                          <a:cs typeface="Calibri" pitchFamily="34" charset="-120"/>
                        </a:rPr>
                        <a:t>acotado</a:t>
                      </a:r>
                      <a:endParaRPr lang="en-US" sz="11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7EEFC"/>
                    </a:solidFill>
                  </a:tcPr>
                </a:tc>
              </a:tr>
            </a:tbl>
          </a:graphicData>
        </a:graphic>
      </p:graphicFrame>
      <p:sp>
        <p:nvSpPr>
          <p:cNvPr id="5" name="Shape 2"/>
          <p:cNvSpPr/>
          <p:nvPr/>
        </p:nvSpPr>
        <p:spPr>
          <a:xfrm>
            <a:off x="640080" y="4617720"/>
            <a:ext cx="5394960" cy="1417320"/>
          </a:xfrm>
          <a:prstGeom prst="roundRect">
            <a:avLst>
              <a:gd name="adj" fmla="val 7742"/>
            </a:avLst>
          </a:prstGeom>
          <a:solidFill>
            <a:srgbClr val="F1F5F9"/>
          </a:solidFill>
          <a:ln w="12700">
            <a:solidFill>
              <a:srgbClr val="F1F5F9"/>
            </a:solidFill>
            <a:prstDash val="solid"/>
          </a:ln>
        </p:spPr>
      </p:sp>
      <p:sp>
        <p:nvSpPr>
          <p:cNvPr id="6" name="Text 3"/>
          <p:cNvSpPr/>
          <p:nvPr/>
        </p:nvSpPr>
        <p:spPr>
          <a:xfrm>
            <a:off x="914400" y="4800600"/>
            <a:ext cx="4846320" cy="27432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Dupla juega otro partido</a:t>
            </a:r>
            <a:endParaRPr lang="en-US" sz="1300" dirty="0"/>
          </a:p>
        </p:txBody>
      </p:sp>
      <p:sp>
        <p:nvSpPr>
          <p:cNvPr id="7" name="Text 4"/>
          <p:cNvSpPr/>
          <p:nvPr/>
        </p:nvSpPr>
        <p:spPr>
          <a:xfrm>
            <a:off x="914400" y="5120640"/>
            <a:ext cx="4846320" cy="822960"/>
          </a:xfrm>
          <a:prstGeom prst="rect">
            <a:avLst/>
          </a:prstGeom>
          <a:noFill/>
          <a:ln/>
        </p:spPr>
        <p:txBody>
          <a:bodyPr wrap="square" lIns="0" tIns="0" rIns="0" bIns="0" rtlCol="0" anchor="ctr"/>
          <a:lstStyle/>
          <a:p>
            <a:pPr indent="0" marL="0">
              <a:lnSpc>
                <a:spcPts val="1600"/>
              </a:lnSpc>
              <a:buNone/>
            </a:pPr>
            <a:r>
              <a:rPr lang="en-US" sz="1150" dirty="0">
                <a:solidFill>
                  <a:srgbClr val="475569"/>
                </a:solidFill>
                <a:latin typeface="Calibri" pitchFamily="34" charset="0"/>
                <a:ea typeface="Calibri" pitchFamily="34" charset="-122"/>
                <a:cs typeface="Calibri" pitchFamily="34" charset="-120"/>
              </a:rPr>
              <a:t>Está hecho para el coach 100% online: rutinas, nutrición y chat, sin agenda. Que exista valida el mercado hispanohablante.</a:t>
            </a:r>
            <a:endParaRPr lang="en-US" sz="1150" dirty="0"/>
          </a:p>
        </p:txBody>
      </p:sp>
      <p:sp>
        <p:nvSpPr>
          <p:cNvPr id="8" name="Shape 5"/>
          <p:cNvSpPr/>
          <p:nvPr/>
        </p:nvSpPr>
        <p:spPr>
          <a:xfrm>
            <a:off x="6263640" y="4617720"/>
            <a:ext cx="5257800" cy="1417320"/>
          </a:xfrm>
          <a:prstGeom prst="roundRect">
            <a:avLst>
              <a:gd name="adj" fmla="val 7742"/>
            </a:avLst>
          </a:prstGeom>
          <a:solidFill>
            <a:srgbClr val="0A1628"/>
          </a:solidFill>
          <a:ln w="12700">
            <a:solidFill>
              <a:srgbClr val="0A1628"/>
            </a:solidFill>
            <a:prstDash val="solid"/>
          </a:ln>
        </p:spPr>
      </p:sp>
      <p:sp>
        <p:nvSpPr>
          <p:cNvPr id="9" name="Text 6"/>
          <p:cNvSpPr/>
          <p:nvPr/>
        </p:nvSpPr>
        <p:spPr>
          <a:xfrm>
            <a:off x="6537960" y="4800600"/>
            <a:ext cx="4754880" cy="27432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Nuestro terreno</a:t>
            </a:r>
            <a:endParaRPr lang="en-US" sz="1300" dirty="0"/>
          </a:p>
        </p:txBody>
      </p:sp>
      <p:sp>
        <p:nvSpPr>
          <p:cNvPr id="10" name="Text 7"/>
          <p:cNvSpPr/>
          <p:nvPr/>
        </p:nvSpPr>
        <p:spPr>
          <a:xfrm>
            <a:off x="6537960" y="5120640"/>
            <a:ext cx="4754880" cy="822960"/>
          </a:xfrm>
          <a:prstGeom prst="rect">
            <a:avLst/>
          </a:prstGeom>
          <a:noFill/>
          <a:ln/>
        </p:spPr>
        <p:txBody>
          <a:bodyPr wrap="square" lIns="0" tIns="0" rIns="0" bIns="0" rtlCol="0" anchor="ctr"/>
          <a:lstStyle/>
          <a:p>
            <a:pPr indent="0" marL="0">
              <a:lnSpc>
                <a:spcPts val="1600"/>
              </a:lnSpc>
              <a:buNone/>
            </a:pPr>
            <a:r>
              <a:rPr lang="en-US" sz="1150" dirty="0">
                <a:solidFill>
                  <a:srgbClr val="F1F5F9"/>
                </a:solidFill>
                <a:latin typeface="Calibri" pitchFamily="34" charset="0"/>
                <a:ea typeface="Calibri" pitchFamily="34" charset="-122"/>
                <a:cs typeface="Calibri" pitchFamily="34" charset="-120"/>
              </a:rPr>
              <a:t>El entrenador presencial e híbrido: el que agenda sesiones y corrige técnica. Precio plano: no le penalizamos por crecer.</a:t>
            </a:r>
            <a:endParaRPr lang="en-US" sz="1150" dirty="0"/>
          </a:p>
        </p:txBody>
      </p:sp>
      <p:sp>
        <p:nvSpPr>
          <p:cNvPr id="11" name="Text 8"/>
          <p:cNvSpPr/>
          <p:nvPr/>
        </p:nvSpPr>
        <p:spPr>
          <a:xfrm>
            <a:off x="640080" y="6355080"/>
            <a:ext cx="10881360" cy="274320"/>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Fuentes: precios públicos de Trainerize, TrueCoach y Dupla (2026). Los precios de Trainerize y TrueCoach incluyen add-ons y comisiones de transacción.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MODELO DE NEGOCIO</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Precio plano por entrenador, en euros</a:t>
            </a:r>
            <a:endParaRPr lang="en-US" sz="3400" dirty="0"/>
          </a:p>
        </p:txBody>
      </p:sp>
      <p:sp>
        <p:nvSpPr>
          <p:cNvPr id="4" name="Text 2"/>
          <p:cNvSpPr/>
          <p:nvPr/>
        </p:nvSpPr>
        <p:spPr>
          <a:xfrm>
            <a:off x="640080" y="1325880"/>
            <a:ext cx="10881360" cy="4572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No cobramos por número de clientes: el entrenador no paga más por crecer. Podemos permitírnoslo porque el coste por cliente está acotado por diseño (~0,04 $/mes).</a:t>
            </a:r>
            <a:endParaRPr lang="en-US" sz="1300" dirty="0"/>
          </a:p>
        </p:txBody>
      </p:sp>
      <p:sp>
        <p:nvSpPr>
          <p:cNvPr id="5" name="Shape 3"/>
          <p:cNvSpPr/>
          <p:nvPr/>
        </p:nvSpPr>
        <p:spPr>
          <a:xfrm>
            <a:off x="640080" y="1874520"/>
            <a:ext cx="3566160" cy="2011680"/>
          </a:xfrm>
          <a:prstGeom prst="roundRect">
            <a:avLst>
              <a:gd name="adj" fmla="val 5455"/>
            </a:avLst>
          </a:prstGeom>
          <a:solidFill>
            <a:srgbClr val="122340"/>
          </a:solidFill>
          <a:ln w="12700">
            <a:solidFill>
              <a:srgbClr val="122340"/>
            </a:solidFill>
            <a:prstDash val="solid"/>
          </a:ln>
        </p:spPr>
      </p:sp>
      <p:sp>
        <p:nvSpPr>
          <p:cNvPr id="6" name="Text 4"/>
          <p:cNvSpPr/>
          <p:nvPr/>
        </p:nvSpPr>
        <p:spPr>
          <a:xfrm>
            <a:off x="960120" y="2084832"/>
            <a:ext cx="3017520" cy="365760"/>
          </a:xfrm>
          <a:prstGeom prst="rect">
            <a:avLst/>
          </a:prstGeom>
          <a:noFill/>
          <a:ln/>
        </p:spPr>
        <p:txBody>
          <a:bodyPr wrap="square" lIns="0" tIns="0" rIns="0" bIns="0" rtlCol="0" anchor="ctr"/>
          <a:lstStyle/>
          <a:p>
            <a:pPr indent="0" marL="0">
              <a:buNone/>
            </a:pPr>
            <a:r>
              <a:rPr lang="en-US" sz="1900" b="1" dirty="0">
                <a:solidFill>
                  <a:srgbClr val="F1F5F9"/>
                </a:solidFill>
                <a:latin typeface="Cambria" pitchFamily="34" charset="0"/>
                <a:ea typeface="Cambria" pitchFamily="34" charset="-122"/>
                <a:cs typeface="Cambria" pitchFamily="34" charset="-120"/>
              </a:rPr>
              <a:t>Prueba</a:t>
            </a:r>
            <a:endParaRPr lang="en-US" sz="1900" dirty="0"/>
          </a:p>
        </p:txBody>
      </p:sp>
      <p:sp>
        <p:nvSpPr>
          <p:cNvPr id="7" name="Text 5"/>
          <p:cNvSpPr/>
          <p:nvPr/>
        </p:nvSpPr>
        <p:spPr>
          <a:xfrm>
            <a:off x="960120" y="2487168"/>
            <a:ext cx="2926080" cy="274320"/>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14 días</a:t>
            </a:r>
            <a:endParaRPr lang="en-US" sz="1200" dirty="0"/>
          </a:p>
        </p:txBody>
      </p:sp>
      <p:sp>
        <p:nvSpPr>
          <p:cNvPr id="8" name="Text 6"/>
          <p:cNvSpPr/>
          <p:nvPr/>
        </p:nvSpPr>
        <p:spPr>
          <a:xfrm>
            <a:off x="960120" y="2816352"/>
            <a:ext cx="2971800" cy="9601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Todo el producto, sin tarjeta. Después decide.</a:t>
            </a:r>
            <a:endParaRPr lang="en-US" sz="1150" dirty="0"/>
          </a:p>
        </p:txBody>
      </p:sp>
      <p:sp>
        <p:nvSpPr>
          <p:cNvPr id="9" name="Shape 7"/>
          <p:cNvSpPr/>
          <p:nvPr/>
        </p:nvSpPr>
        <p:spPr>
          <a:xfrm>
            <a:off x="4389120" y="1874520"/>
            <a:ext cx="3566160" cy="2011680"/>
          </a:xfrm>
          <a:prstGeom prst="roundRect">
            <a:avLst>
              <a:gd name="adj" fmla="val 5455"/>
            </a:avLst>
          </a:prstGeom>
          <a:solidFill>
            <a:srgbClr val="2563EB"/>
          </a:solidFill>
          <a:ln w="12700">
            <a:solidFill>
              <a:srgbClr val="2563EB"/>
            </a:solidFill>
            <a:prstDash val="solid"/>
          </a:ln>
        </p:spPr>
      </p:sp>
      <p:sp>
        <p:nvSpPr>
          <p:cNvPr id="10" name="Text 8"/>
          <p:cNvSpPr/>
          <p:nvPr/>
        </p:nvSpPr>
        <p:spPr>
          <a:xfrm>
            <a:off x="4709160" y="2084832"/>
            <a:ext cx="3017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Pro · 29 €/mes</a:t>
            </a:r>
            <a:endParaRPr lang="en-US" sz="1900" dirty="0"/>
          </a:p>
        </p:txBody>
      </p:sp>
      <p:sp>
        <p:nvSpPr>
          <p:cNvPr id="11" name="Text 9"/>
          <p:cNvSpPr/>
          <p:nvPr/>
        </p:nvSpPr>
        <p:spPr>
          <a:xfrm>
            <a:off x="4709160" y="2487168"/>
            <a:ext cx="29260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 entrenador</a:t>
            </a:r>
            <a:endParaRPr lang="en-US" sz="1200" dirty="0"/>
          </a:p>
        </p:txBody>
      </p:sp>
      <p:sp>
        <p:nvSpPr>
          <p:cNvPr id="12" name="Text 10"/>
          <p:cNvSpPr/>
          <p:nvPr/>
        </p:nvSpPr>
        <p:spPr>
          <a:xfrm>
            <a:off x="4709160" y="2816352"/>
            <a:ext cx="2971800" cy="960120"/>
          </a:xfrm>
          <a:prstGeom prst="rect">
            <a:avLst/>
          </a:prstGeom>
          <a:noFill/>
          <a:ln/>
        </p:spPr>
        <p:txBody>
          <a:bodyPr wrap="square" lIns="0" tIns="0" rIns="0" bIns="0" rtlCol="0" anchor="ctr"/>
          <a:lstStyle/>
          <a:p>
            <a:pPr indent="0" marL="0">
              <a:lnSpc>
                <a:spcPts val="1600"/>
              </a:lnSpc>
              <a:buNone/>
            </a:pPr>
            <a:r>
              <a:rPr lang="en-US" sz="1150" dirty="0">
                <a:solidFill>
                  <a:srgbClr val="E7EEFC"/>
                </a:solidFill>
                <a:latin typeface="Calibri" pitchFamily="34" charset="0"/>
                <a:ea typeface="Calibri" pitchFamily="34" charset="-122"/>
                <a:cs typeface="Calibri" pitchFamily="34" charset="-120"/>
              </a:rPr>
              <a:t>Todo: entrenamientos, agenda, seguimiento, ficha y corrección de técnica.</a:t>
            </a:r>
            <a:endParaRPr lang="en-US" sz="1150" dirty="0"/>
          </a:p>
        </p:txBody>
      </p:sp>
      <p:sp>
        <p:nvSpPr>
          <p:cNvPr id="13" name="Shape 11"/>
          <p:cNvSpPr/>
          <p:nvPr/>
        </p:nvSpPr>
        <p:spPr>
          <a:xfrm>
            <a:off x="8138160" y="1874520"/>
            <a:ext cx="3566160" cy="2011680"/>
          </a:xfrm>
          <a:prstGeom prst="roundRect">
            <a:avLst>
              <a:gd name="adj" fmla="val 5455"/>
            </a:avLst>
          </a:prstGeom>
          <a:solidFill>
            <a:srgbClr val="122340"/>
          </a:solidFill>
          <a:ln w="12700">
            <a:solidFill>
              <a:srgbClr val="122340"/>
            </a:solidFill>
            <a:prstDash val="solid"/>
          </a:ln>
        </p:spPr>
      </p:sp>
      <p:sp>
        <p:nvSpPr>
          <p:cNvPr id="14" name="Text 12"/>
          <p:cNvSpPr/>
          <p:nvPr/>
        </p:nvSpPr>
        <p:spPr>
          <a:xfrm>
            <a:off x="8458200" y="2084832"/>
            <a:ext cx="3017520" cy="365760"/>
          </a:xfrm>
          <a:prstGeom prst="rect">
            <a:avLst/>
          </a:prstGeom>
          <a:noFill/>
          <a:ln/>
        </p:spPr>
        <p:txBody>
          <a:bodyPr wrap="square" lIns="0" tIns="0" rIns="0" bIns="0" rtlCol="0" anchor="ctr"/>
          <a:lstStyle/>
          <a:p>
            <a:pPr indent="0" marL="0">
              <a:buNone/>
            </a:pPr>
            <a:r>
              <a:rPr lang="en-US" sz="1900" b="1" dirty="0">
                <a:solidFill>
                  <a:srgbClr val="F1F5F9"/>
                </a:solidFill>
                <a:latin typeface="Cambria" pitchFamily="34" charset="0"/>
                <a:ea typeface="Cambria" pitchFamily="34" charset="-122"/>
                <a:cs typeface="Cambria" pitchFamily="34" charset="-120"/>
              </a:rPr>
              <a:t>Studio · 79 €/mes</a:t>
            </a:r>
            <a:endParaRPr lang="en-US" sz="1900" dirty="0"/>
          </a:p>
        </p:txBody>
      </p:sp>
      <p:sp>
        <p:nvSpPr>
          <p:cNvPr id="15" name="Text 13"/>
          <p:cNvSpPr/>
          <p:nvPr/>
        </p:nvSpPr>
        <p:spPr>
          <a:xfrm>
            <a:off x="8458200" y="2487168"/>
            <a:ext cx="2926080" cy="274320"/>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Varios entrenadores</a:t>
            </a:r>
            <a:endParaRPr lang="en-US" sz="1200" dirty="0"/>
          </a:p>
        </p:txBody>
      </p:sp>
      <p:sp>
        <p:nvSpPr>
          <p:cNvPr id="16" name="Text 14"/>
          <p:cNvSpPr/>
          <p:nvPr/>
        </p:nvSpPr>
        <p:spPr>
          <a:xfrm>
            <a:off x="8458200" y="2816352"/>
            <a:ext cx="2971800" cy="960120"/>
          </a:xfrm>
          <a:prstGeom prst="rect">
            <a:avLst/>
          </a:prstGeom>
          <a:noFill/>
          <a:ln/>
        </p:spPr>
        <p:txBody>
          <a:bodyPr wrap="square" lIns="0" tIns="0" rIns="0" bIns="0" rtlCol="0" anchor="ctr"/>
          <a:lstStyle/>
          <a:p>
            <a:pPr indent="0" marL="0">
              <a:lnSpc>
                <a:spcPts val="1600"/>
              </a:lnSpc>
              <a:buNone/>
            </a:pPr>
            <a:r>
              <a:rPr lang="en-US" sz="1150" dirty="0">
                <a:solidFill>
                  <a:srgbClr val="94A3B8"/>
                </a:solidFill>
                <a:latin typeface="Calibri" pitchFamily="34" charset="0"/>
                <a:ea typeface="Calibri" pitchFamily="34" charset="-122"/>
                <a:cs typeface="Calibri" pitchFamily="34" charset="-120"/>
              </a:rPr>
              <a:t>Estudios y centros que gestionan un equipo bajo su marca.</a:t>
            </a:r>
            <a:endParaRPr lang="en-US" sz="1150" dirty="0"/>
          </a:p>
        </p:txBody>
      </p:sp>
      <p:sp>
        <p:nvSpPr>
          <p:cNvPr id="17" name="Text 15"/>
          <p:cNvSpPr/>
          <p:nvPr/>
        </p:nvSpPr>
        <p:spPr>
          <a:xfrm>
            <a:off x="640080" y="4160520"/>
            <a:ext cx="10881360" cy="32004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Dos vías de crecimiento por encima</a:t>
            </a:r>
            <a:endParaRPr lang="en-US" sz="1500" dirty="0"/>
          </a:p>
        </p:txBody>
      </p:sp>
      <p:sp>
        <p:nvSpPr>
          <p:cNvPr id="18" name="Shape 16"/>
          <p:cNvSpPr/>
          <p:nvPr/>
        </p:nvSpPr>
        <p:spPr>
          <a:xfrm>
            <a:off x="640080" y="4572000"/>
            <a:ext cx="5394960" cy="1463040"/>
          </a:xfrm>
          <a:prstGeom prst="roundRect">
            <a:avLst>
              <a:gd name="adj" fmla="val 7500"/>
            </a:avLst>
          </a:prstGeom>
          <a:solidFill>
            <a:srgbClr val="1A2E4A"/>
          </a:solidFill>
          <a:ln w="12700">
            <a:solidFill>
              <a:srgbClr val="1A2E4A"/>
            </a:solidFill>
            <a:prstDash val="solid"/>
          </a:ln>
        </p:spPr>
      </p:sp>
      <p:sp>
        <p:nvSpPr>
          <p:cNvPr id="19" name="Text 17"/>
          <p:cNvSpPr/>
          <p:nvPr/>
        </p:nvSpPr>
        <p:spPr>
          <a:xfrm>
            <a:off x="914400" y="4754880"/>
            <a:ext cx="4846320" cy="27432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Empresas (ya hay demanda)</a:t>
            </a:r>
            <a:endParaRPr lang="en-US" sz="1300" dirty="0"/>
          </a:p>
        </p:txBody>
      </p:sp>
      <p:sp>
        <p:nvSpPr>
          <p:cNvPr id="20" name="Text 18"/>
          <p:cNvSpPr/>
          <p:nvPr/>
        </p:nvSpPr>
        <p:spPr>
          <a:xfrm>
            <a:off x="914400" y="5074920"/>
            <a:ext cx="4892040" cy="914400"/>
          </a:xfrm>
          <a:prstGeom prst="rect">
            <a:avLst/>
          </a:prstGeom>
          <a:noFill/>
          <a:ln/>
        </p:spPr>
        <p:txBody>
          <a:bodyPr wrap="square" lIns="0" tIns="0" rIns="0" bIns="0" rtlCol="0" anchor="ctr"/>
          <a:lstStyle/>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Una empresa contrata al entrenador para sus empleadas: conciliación y salud. Una venta = decenas de usuarios, y al entrenador le llega cartera. Plan Empresa por encima del Pro.</a:t>
            </a:r>
            <a:endParaRPr lang="en-US" sz="1050" dirty="0"/>
          </a:p>
        </p:txBody>
      </p:sp>
      <p:sp>
        <p:nvSpPr>
          <p:cNvPr id="21" name="Shape 19"/>
          <p:cNvSpPr/>
          <p:nvPr/>
        </p:nvSpPr>
        <p:spPr>
          <a:xfrm>
            <a:off x="6217920" y="4572000"/>
            <a:ext cx="5394960" cy="1463040"/>
          </a:xfrm>
          <a:prstGeom prst="roundRect">
            <a:avLst>
              <a:gd name="adj" fmla="val 7500"/>
            </a:avLst>
          </a:prstGeom>
          <a:solidFill>
            <a:srgbClr val="1A2E4A"/>
          </a:solidFill>
          <a:ln w="12700">
            <a:solidFill>
              <a:srgbClr val="1A2E4A"/>
            </a:solidFill>
            <a:prstDash val="solid"/>
          </a:ln>
        </p:spPr>
      </p:sp>
      <p:sp>
        <p:nvSpPr>
          <p:cNvPr id="22" name="Text 20"/>
          <p:cNvSpPr/>
          <p:nvPr/>
        </p:nvSpPr>
        <p:spPr>
          <a:xfrm>
            <a:off x="6492240" y="4754880"/>
            <a:ext cx="4846320" cy="27432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Cobros integrados</a:t>
            </a:r>
            <a:endParaRPr lang="en-US" sz="1300" dirty="0"/>
          </a:p>
        </p:txBody>
      </p:sp>
      <p:sp>
        <p:nvSpPr>
          <p:cNvPr id="23" name="Text 21"/>
          <p:cNvSpPr/>
          <p:nvPr/>
        </p:nvSpPr>
        <p:spPr>
          <a:xfrm>
            <a:off x="6492240" y="5074920"/>
            <a:ext cx="4892040" cy="914400"/>
          </a:xfrm>
          <a:prstGeom prst="rect">
            <a:avLst/>
          </a:prstGeom>
          <a:noFill/>
          <a:ln/>
        </p:spPr>
        <p:txBody>
          <a:bodyPr wrap="square" lIns="0" tIns="0" rIns="0" bIns="0" rtlCol="0" anchor="ctr"/>
          <a:lstStyle/>
          <a:p>
            <a:pPr indent="0" marL="0">
              <a:lnSpc>
                <a:spcPts val="1400"/>
              </a:lnSpc>
              <a:buNone/>
            </a:pPr>
            <a:r>
              <a:rPr lang="en-US" sz="1050" dirty="0">
                <a:solidFill>
                  <a:srgbClr val="94A3B8"/>
                </a:solidFill>
                <a:latin typeface="Calibri" pitchFamily="34" charset="0"/>
                <a:ea typeface="Calibri" pitchFamily="34" charset="-122"/>
                <a:cs typeface="Calibri" pitchFamily="34" charset="-120"/>
              </a:rPr>
              <a:t>Que el entrenador cobre dentro de la app con una comisión pequeña. Escala con su éxito, no con nuestro coste. Retención altísima: nadie deja la herramienta por la que cobra.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De producto terminado a negocio con ingresos</a:t>
            </a:r>
            <a:endParaRPr lang="en-US" sz="3400" dirty="0"/>
          </a:p>
        </p:txBody>
      </p:sp>
      <p:sp>
        <p:nvSpPr>
          <p:cNvPr id="4" name="Shape 2"/>
          <p:cNvSpPr/>
          <p:nvPr/>
        </p:nvSpPr>
        <p:spPr>
          <a:xfrm>
            <a:off x="640080" y="1508760"/>
            <a:ext cx="10881360" cy="1051560"/>
          </a:xfrm>
          <a:prstGeom prst="roundRect">
            <a:avLst>
              <a:gd name="adj" fmla="val 10435"/>
            </a:avLst>
          </a:prstGeom>
          <a:solidFill>
            <a:srgbClr val="F1F5F9"/>
          </a:solidFill>
          <a:ln w="12700">
            <a:solidFill>
              <a:srgbClr val="F1F5F9"/>
            </a:solidFill>
            <a:prstDash val="solid"/>
          </a:ln>
        </p:spPr>
      </p:sp>
      <p:sp>
        <p:nvSpPr>
          <p:cNvPr id="5" name="Shape 3"/>
          <p:cNvSpPr/>
          <p:nvPr/>
        </p:nvSpPr>
        <p:spPr>
          <a:xfrm>
            <a:off x="868680" y="1783080"/>
            <a:ext cx="1371600" cy="502920"/>
          </a:xfrm>
          <a:prstGeom prst="roundRect">
            <a:avLst>
              <a:gd name="adj" fmla="val 18182"/>
            </a:avLst>
          </a:prstGeom>
          <a:solidFill>
            <a:srgbClr val="2563EB"/>
          </a:solidFill>
          <a:ln/>
        </p:spPr>
      </p:sp>
      <p:sp>
        <p:nvSpPr>
          <p:cNvPr id="6" name="Text 4"/>
          <p:cNvSpPr/>
          <p:nvPr/>
        </p:nvSpPr>
        <p:spPr>
          <a:xfrm>
            <a:off x="868680" y="1783080"/>
            <a:ext cx="13716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Hoy</a:t>
            </a:r>
            <a:endParaRPr lang="en-US" sz="1200" dirty="0"/>
          </a:p>
        </p:txBody>
      </p:sp>
      <p:sp>
        <p:nvSpPr>
          <p:cNvPr id="7" name="Text 5"/>
          <p:cNvSpPr/>
          <p:nvPr/>
        </p:nvSpPr>
        <p:spPr>
          <a:xfrm>
            <a:off x="2468880" y="1737360"/>
            <a:ext cx="877824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Producto completo</a:t>
            </a:r>
            <a:endParaRPr lang="en-US" sz="1500" dirty="0"/>
          </a:p>
        </p:txBody>
      </p:sp>
      <p:sp>
        <p:nvSpPr>
          <p:cNvPr id="8" name="Text 6"/>
          <p:cNvSpPr/>
          <p:nvPr/>
        </p:nvSpPr>
        <p:spPr>
          <a:xfrm>
            <a:off x="2468880" y="2039112"/>
            <a:ext cx="8778240" cy="36576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Entrenamientos, agenda, seguimiento, ficha de cliente y corrección de técnica por vídeo. Funcionando.</a:t>
            </a:r>
            <a:endParaRPr lang="en-US" sz="1150" dirty="0"/>
          </a:p>
        </p:txBody>
      </p:sp>
      <p:sp>
        <p:nvSpPr>
          <p:cNvPr id="9" name="Shape 7"/>
          <p:cNvSpPr/>
          <p:nvPr/>
        </p:nvSpPr>
        <p:spPr>
          <a:xfrm>
            <a:off x="640080" y="2679192"/>
            <a:ext cx="10881360" cy="1051560"/>
          </a:xfrm>
          <a:prstGeom prst="roundRect">
            <a:avLst>
              <a:gd name="adj" fmla="val 10435"/>
            </a:avLst>
          </a:prstGeom>
          <a:solidFill>
            <a:srgbClr val="F1F5F9"/>
          </a:solidFill>
          <a:ln w="12700">
            <a:solidFill>
              <a:srgbClr val="F1F5F9"/>
            </a:solidFill>
            <a:prstDash val="solid"/>
          </a:ln>
        </p:spPr>
      </p:sp>
      <p:sp>
        <p:nvSpPr>
          <p:cNvPr id="10" name="Shape 8"/>
          <p:cNvSpPr/>
          <p:nvPr/>
        </p:nvSpPr>
        <p:spPr>
          <a:xfrm>
            <a:off x="868680" y="2953512"/>
            <a:ext cx="1371600" cy="502920"/>
          </a:xfrm>
          <a:prstGeom prst="roundRect">
            <a:avLst>
              <a:gd name="adj" fmla="val 18182"/>
            </a:avLst>
          </a:prstGeom>
          <a:solidFill>
            <a:srgbClr val="2563EB"/>
          </a:solidFill>
          <a:ln/>
        </p:spPr>
      </p:sp>
      <p:sp>
        <p:nvSpPr>
          <p:cNvPr id="11" name="Text 9"/>
          <p:cNvSpPr/>
          <p:nvPr/>
        </p:nvSpPr>
        <p:spPr>
          <a:xfrm>
            <a:off x="868680" y="2953512"/>
            <a:ext cx="13716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 meses</a:t>
            </a:r>
            <a:endParaRPr lang="en-US" sz="1200" dirty="0"/>
          </a:p>
        </p:txBody>
      </p:sp>
      <p:sp>
        <p:nvSpPr>
          <p:cNvPr id="12" name="Text 10"/>
          <p:cNvSpPr/>
          <p:nvPr/>
        </p:nvSpPr>
        <p:spPr>
          <a:xfrm>
            <a:off x="2468880" y="2907792"/>
            <a:ext cx="877824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Primeros clientes reales</a:t>
            </a:r>
            <a:endParaRPr lang="en-US" sz="1500" dirty="0"/>
          </a:p>
        </p:txBody>
      </p:sp>
      <p:sp>
        <p:nvSpPr>
          <p:cNvPr id="13" name="Text 11"/>
          <p:cNvSpPr/>
          <p:nvPr/>
        </p:nvSpPr>
        <p:spPr>
          <a:xfrm>
            <a:off x="2468880" y="3209544"/>
            <a:ext cx="8778240" cy="36576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Entrenadores en beta cerrada y la primera empresa (ya hay una interesada). Validar precio con dinero encima de la mesa.</a:t>
            </a:r>
            <a:endParaRPr lang="en-US" sz="1150" dirty="0"/>
          </a:p>
        </p:txBody>
      </p:sp>
      <p:sp>
        <p:nvSpPr>
          <p:cNvPr id="14" name="Shape 12"/>
          <p:cNvSpPr/>
          <p:nvPr/>
        </p:nvSpPr>
        <p:spPr>
          <a:xfrm>
            <a:off x="640080" y="3849624"/>
            <a:ext cx="10881360" cy="1051560"/>
          </a:xfrm>
          <a:prstGeom prst="roundRect">
            <a:avLst>
              <a:gd name="adj" fmla="val 10435"/>
            </a:avLst>
          </a:prstGeom>
          <a:solidFill>
            <a:srgbClr val="F8FAFC"/>
          </a:solidFill>
          <a:ln w="12700">
            <a:solidFill>
              <a:srgbClr val="F8FAFC"/>
            </a:solidFill>
            <a:prstDash val="solid"/>
          </a:ln>
        </p:spPr>
      </p:sp>
      <p:sp>
        <p:nvSpPr>
          <p:cNvPr id="15" name="Shape 13"/>
          <p:cNvSpPr/>
          <p:nvPr/>
        </p:nvSpPr>
        <p:spPr>
          <a:xfrm>
            <a:off x="868680" y="4123944"/>
            <a:ext cx="1371600" cy="502920"/>
          </a:xfrm>
          <a:prstGeom prst="roundRect">
            <a:avLst>
              <a:gd name="adj" fmla="val 18182"/>
            </a:avLst>
          </a:prstGeom>
          <a:solidFill>
            <a:srgbClr val="38BDF8"/>
          </a:solidFill>
          <a:ln/>
        </p:spPr>
      </p:sp>
      <p:sp>
        <p:nvSpPr>
          <p:cNvPr id="16" name="Text 14"/>
          <p:cNvSpPr/>
          <p:nvPr/>
        </p:nvSpPr>
        <p:spPr>
          <a:xfrm>
            <a:off x="868680" y="4123944"/>
            <a:ext cx="13716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3-9 meses</a:t>
            </a:r>
            <a:endParaRPr lang="en-US" sz="1200" dirty="0"/>
          </a:p>
        </p:txBody>
      </p:sp>
      <p:sp>
        <p:nvSpPr>
          <p:cNvPr id="17" name="Text 15"/>
          <p:cNvSpPr/>
          <p:nvPr/>
        </p:nvSpPr>
        <p:spPr>
          <a:xfrm>
            <a:off x="2468880" y="4078224"/>
            <a:ext cx="877824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Cobros integrados</a:t>
            </a:r>
            <a:endParaRPr lang="en-US" sz="1500" dirty="0"/>
          </a:p>
        </p:txBody>
      </p:sp>
      <p:sp>
        <p:nvSpPr>
          <p:cNvPr id="18" name="Text 16"/>
          <p:cNvSpPr/>
          <p:nvPr/>
        </p:nvSpPr>
        <p:spPr>
          <a:xfrm>
            <a:off x="2468880" y="4379976"/>
            <a:ext cx="8778240" cy="36576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El entrenador cobra a sus clientes dentro de Coachify. Se activa la segunda línea de ingresos.</a:t>
            </a:r>
            <a:endParaRPr lang="en-US" sz="1150" dirty="0"/>
          </a:p>
        </p:txBody>
      </p:sp>
      <p:sp>
        <p:nvSpPr>
          <p:cNvPr id="19" name="Shape 17"/>
          <p:cNvSpPr/>
          <p:nvPr/>
        </p:nvSpPr>
        <p:spPr>
          <a:xfrm>
            <a:off x="640080" y="5020056"/>
            <a:ext cx="10881360" cy="1051560"/>
          </a:xfrm>
          <a:prstGeom prst="roundRect">
            <a:avLst>
              <a:gd name="adj" fmla="val 10435"/>
            </a:avLst>
          </a:prstGeom>
          <a:solidFill>
            <a:srgbClr val="F8FAFC"/>
          </a:solidFill>
          <a:ln w="12700">
            <a:solidFill>
              <a:srgbClr val="F8FAFC"/>
            </a:solidFill>
            <a:prstDash val="solid"/>
          </a:ln>
        </p:spPr>
      </p:sp>
      <p:sp>
        <p:nvSpPr>
          <p:cNvPr id="20" name="Shape 18"/>
          <p:cNvSpPr/>
          <p:nvPr/>
        </p:nvSpPr>
        <p:spPr>
          <a:xfrm>
            <a:off x="868680" y="5294376"/>
            <a:ext cx="1371600" cy="502920"/>
          </a:xfrm>
          <a:prstGeom prst="roundRect">
            <a:avLst>
              <a:gd name="adj" fmla="val 18182"/>
            </a:avLst>
          </a:prstGeom>
          <a:solidFill>
            <a:srgbClr val="38BDF8"/>
          </a:solidFill>
          <a:ln/>
        </p:spPr>
      </p:sp>
      <p:sp>
        <p:nvSpPr>
          <p:cNvPr id="21" name="Text 19"/>
          <p:cNvSpPr/>
          <p:nvPr/>
        </p:nvSpPr>
        <p:spPr>
          <a:xfrm>
            <a:off x="868680" y="5294376"/>
            <a:ext cx="13716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9-18 meses</a:t>
            </a:r>
            <a:endParaRPr lang="en-US" sz="1200" dirty="0"/>
          </a:p>
        </p:txBody>
      </p:sp>
      <p:sp>
        <p:nvSpPr>
          <p:cNvPr id="22" name="Text 20"/>
          <p:cNvSpPr/>
          <p:nvPr/>
        </p:nvSpPr>
        <p:spPr>
          <a:xfrm>
            <a:off x="2468880" y="5248656"/>
            <a:ext cx="8778240" cy="292608"/>
          </a:xfrm>
          <a:prstGeom prst="rect">
            <a:avLst/>
          </a:prstGeom>
          <a:noFill/>
          <a:ln/>
        </p:spPr>
        <p:txBody>
          <a:bodyPr wrap="square" lIns="0" tIns="0" rIns="0" bIns="0"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Escala y marketplace</a:t>
            </a:r>
            <a:endParaRPr lang="en-US" sz="1500" dirty="0"/>
          </a:p>
        </p:txBody>
      </p:sp>
      <p:sp>
        <p:nvSpPr>
          <p:cNvPr id="23" name="Text 21"/>
          <p:cNvSpPr/>
          <p:nvPr/>
        </p:nvSpPr>
        <p:spPr>
          <a:xfrm>
            <a:off x="2468880" y="5550408"/>
            <a:ext cx="8778240" cy="36576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Crecimiento en España y entrada en Latinoamérica. Marketplace de entrenadores.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POR QUÉ AHORA</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Tres vientos de cola a la vez</a:t>
            </a:r>
            <a:endParaRPr lang="en-US" sz="3400" dirty="0"/>
          </a:p>
        </p:txBody>
      </p:sp>
      <p:sp>
        <p:nvSpPr>
          <p:cNvPr id="4" name="Shape 2"/>
          <p:cNvSpPr/>
          <p:nvPr/>
        </p:nvSpPr>
        <p:spPr>
          <a:xfrm>
            <a:off x="640080" y="1600200"/>
            <a:ext cx="10881360" cy="1234440"/>
          </a:xfrm>
          <a:prstGeom prst="roundRect">
            <a:avLst>
              <a:gd name="adj" fmla="val 8889"/>
            </a:avLst>
          </a:prstGeom>
          <a:solidFill>
            <a:srgbClr val="122340"/>
          </a:solidFill>
          <a:ln w="12700">
            <a:solidFill>
              <a:srgbClr val="122340"/>
            </a:solidFill>
            <a:prstDash val="solid"/>
          </a:ln>
        </p:spPr>
      </p:sp>
      <p:sp>
        <p:nvSpPr>
          <p:cNvPr id="5" name="Shape 3"/>
          <p:cNvSpPr/>
          <p:nvPr/>
        </p:nvSpPr>
        <p:spPr>
          <a:xfrm>
            <a:off x="960120" y="1965960"/>
            <a:ext cx="502920" cy="502920"/>
          </a:xfrm>
          <a:prstGeom prst="ellipse">
            <a:avLst/>
          </a:prstGeom>
          <a:solidFill>
            <a:srgbClr val="2563EB"/>
          </a:solidFill>
          <a:ln/>
        </p:spPr>
      </p:sp>
      <p:sp>
        <p:nvSpPr>
          <p:cNvPr id="6" name="Text 4"/>
          <p:cNvSpPr/>
          <p:nvPr/>
        </p:nvSpPr>
        <p:spPr>
          <a:xfrm>
            <a:off x="96012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91640" y="1856232"/>
            <a:ext cx="9418320" cy="32004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El sector se digitaliza</a:t>
            </a:r>
            <a:endParaRPr lang="en-US" sz="1600" dirty="0"/>
          </a:p>
        </p:txBody>
      </p:sp>
      <p:sp>
        <p:nvSpPr>
          <p:cNvPr id="8" name="Text 6"/>
          <p:cNvSpPr/>
          <p:nvPr/>
        </p:nvSpPr>
        <p:spPr>
          <a:xfrm>
            <a:off x="1691640" y="2221992"/>
            <a:ext cx="9418320" cy="457200"/>
          </a:xfrm>
          <a:prstGeom prst="rect">
            <a:avLst/>
          </a:prstGeom>
          <a:noFill/>
          <a:ln/>
        </p:spPr>
        <p:txBody>
          <a:bodyPr wrap="square" lIns="0" tIns="0" rIns="0" bIns="0" rtlCol="0" anchor="ctr"/>
          <a:lstStyle/>
          <a:p>
            <a:pPr indent="0" marL="0">
              <a:lnSpc>
                <a:spcPts val="1600"/>
              </a:lnSpc>
              <a:buNone/>
            </a:pPr>
            <a:r>
              <a:rPr lang="en-US" sz="1200" dirty="0">
                <a:solidFill>
                  <a:srgbClr val="94A3B8"/>
                </a:solidFill>
                <a:latin typeface="Calibri" pitchFamily="34" charset="0"/>
                <a:ea typeface="Calibri" pitchFamily="34" charset="-122"/>
                <a:cs typeface="Calibri" pitchFamily="34" charset="-120"/>
              </a:rPr>
              <a:t>El fitness en España crece hacia modelos más digitales y sostenibles. El entrenador que no da servicio online pierde clientes.</a:t>
            </a:r>
            <a:endParaRPr lang="en-US" sz="1200" dirty="0"/>
          </a:p>
        </p:txBody>
      </p:sp>
      <p:sp>
        <p:nvSpPr>
          <p:cNvPr id="9" name="Shape 7"/>
          <p:cNvSpPr/>
          <p:nvPr/>
        </p:nvSpPr>
        <p:spPr>
          <a:xfrm>
            <a:off x="640080" y="2971800"/>
            <a:ext cx="10881360" cy="1234440"/>
          </a:xfrm>
          <a:prstGeom prst="roundRect">
            <a:avLst>
              <a:gd name="adj" fmla="val 8889"/>
            </a:avLst>
          </a:prstGeom>
          <a:solidFill>
            <a:srgbClr val="122340"/>
          </a:solidFill>
          <a:ln w="12700">
            <a:solidFill>
              <a:srgbClr val="122340"/>
            </a:solidFill>
            <a:prstDash val="solid"/>
          </a:ln>
        </p:spPr>
      </p:sp>
      <p:sp>
        <p:nvSpPr>
          <p:cNvPr id="10" name="Shape 8"/>
          <p:cNvSpPr/>
          <p:nvPr/>
        </p:nvSpPr>
        <p:spPr>
          <a:xfrm>
            <a:off x="960120" y="3337560"/>
            <a:ext cx="502920" cy="502920"/>
          </a:xfrm>
          <a:prstGeom prst="ellipse">
            <a:avLst/>
          </a:prstGeom>
          <a:solidFill>
            <a:srgbClr val="2563EB"/>
          </a:solidFill>
          <a:ln/>
        </p:spPr>
      </p:sp>
      <p:sp>
        <p:nvSpPr>
          <p:cNvPr id="11" name="Text 9"/>
          <p:cNvSpPr/>
          <p:nvPr/>
        </p:nvSpPr>
        <p:spPr>
          <a:xfrm>
            <a:off x="960120" y="33375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691640" y="3227832"/>
            <a:ext cx="9418320" cy="32004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El entrenamiento híbrido se quedó</a:t>
            </a:r>
            <a:endParaRPr lang="en-US" sz="1600" dirty="0"/>
          </a:p>
        </p:txBody>
      </p:sp>
      <p:sp>
        <p:nvSpPr>
          <p:cNvPr id="13" name="Text 11"/>
          <p:cNvSpPr/>
          <p:nvPr/>
        </p:nvSpPr>
        <p:spPr>
          <a:xfrm>
            <a:off x="1691640" y="3593592"/>
            <a:ext cx="9418320" cy="457200"/>
          </a:xfrm>
          <a:prstGeom prst="rect">
            <a:avLst/>
          </a:prstGeom>
          <a:noFill/>
          <a:ln/>
        </p:spPr>
        <p:txBody>
          <a:bodyPr wrap="square" lIns="0" tIns="0" rIns="0" bIns="0" rtlCol="0" anchor="ctr"/>
          <a:lstStyle/>
          <a:p>
            <a:pPr indent="0" marL="0">
              <a:lnSpc>
                <a:spcPts val="1600"/>
              </a:lnSpc>
              <a:buNone/>
            </a:pPr>
            <a:r>
              <a:rPr lang="en-US" sz="1200" dirty="0">
                <a:solidFill>
                  <a:srgbClr val="94A3B8"/>
                </a:solidFill>
                <a:latin typeface="Calibri" pitchFamily="34" charset="0"/>
                <a:ea typeface="Calibri" pitchFamily="34" charset="-122"/>
                <a:cs typeface="Calibri" pitchFamily="34" charset="-120"/>
              </a:rPr>
              <a:t>Presencial más seguimiento en remoto es ya la norma. Eso exige herramientas que antes nadie necesitaba.</a:t>
            </a:r>
            <a:endParaRPr lang="en-US" sz="1200" dirty="0"/>
          </a:p>
        </p:txBody>
      </p:sp>
      <p:sp>
        <p:nvSpPr>
          <p:cNvPr id="14" name="Shape 12"/>
          <p:cNvSpPr/>
          <p:nvPr/>
        </p:nvSpPr>
        <p:spPr>
          <a:xfrm>
            <a:off x="640080" y="4343400"/>
            <a:ext cx="10881360" cy="1234440"/>
          </a:xfrm>
          <a:prstGeom prst="roundRect">
            <a:avLst>
              <a:gd name="adj" fmla="val 8889"/>
            </a:avLst>
          </a:prstGeom>
          <a:solidFill>
            <a:srgbClr val="122340"/>
          </a:solidFill>
          <a:ln w="12700">
            <a:solidFill>
              <a:srgbClr val="122340"/>
            </a:solidFill>
            <a:prstDash val="solid"/>
          </a:ln>
        </p:spPr>
      </p:sp>
      <p:sp>
        <p:nvSpPr>
          <p:cNvPr id="15" name="Shape 13"/>
          <p:cNvSpPr/>
          <p:nvPr/>
        </p:nvSpPr>
        <p:spPr>
          <a:xfrm>
            <a:off x="960120" y="4709160"/>
            <a:ext cx="502920" cy="502920"/>
          </a:xfrm>
          <a:prstGeom prst="ellipse">
            <a:avLst/>
          </a:prstGeom>
          <a:solidFill>
            <a:srgbClr val="38BDF8"/>
          </a:solidFill>
          <a:ln/>
        </p:spPr>
      </p:sp>
      <p:sp>
        <p:nvSpPr>
          <p:cNvPr id="16" name="Text 14"/>
          <p:cNvSpPr/>
          <p:nvPr/>
        </p:nvSpPr>
        <p:spPr>
          <a:xfrm>
            <a:off x="960120" y="4709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691640" y="4599432"/>
            <a:ext cx="9418320" cy="32004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Los líderes suben precios</a:t>
            </a:r>
            <a:endParaRPr lang="en-US" sz="1600" dirty="0"/>
          </a:p>
        </p:txBody>
      </p:sp>
      <p:sp>
        <p:nvSpPr>
          <p:cNvPr id="18" name="Text 16"/>
          <p:cNvSpPr/>
          <p:nvPr/>
        </p:nvSpPr>
        <p:spPr>
          <a:xfrm>
            <a:off x="1691640" y="4965192"/>
            <a:ext cx="9418320" cy="457200"/>
          </a:xfrm>
          <a:prstGeom prst="rect">
            <a:avLst/>
          </a:prstGeom>
          <a:noFill/>
          <a:ln/>
        </p:spPr>
        <p:txBody>
          <a:bodyPr wrap="square" lIns="0" tIns="0" rIns="0" bIns="0" rtlCol="0" anchor="ctr"/>
          <a:lstStyle/>
          <a:p>
            <a:pPr indent="0" marL="0">
              <a:lnSpc>
                <a:spcPts val="1600"/>
              </a:lnSpc>
              <a:buNone/>
            </a:pPr>
            <a:r>
              <a:rPr lang="en-US" sz="1200" dirty="0">
                <a:solidFill>
                  <a:srgbClr val="94A3B8"/>
                </a:solidFill>
                <a:latin typeface="Calibri" pitchFamily="34" charset="0"/>
                <a:ea typeface="Calibri" pitchFamily="34" charset="-122"/>
                <a:cs typeface="Calibri" pitchFamily="34" charset="-120"/>
              </a:rPr>
              <a:t>Las plataformas dominantes añaden comisiones sobre los cobros del entrenador. Se abre hueco para una alternativa justa y en español.</a:t>
            </a:r>
            <a:endParaRPr lang="en-US" sz="1200" dirty="0"/>
          </a:p>
        </p:txBody>
      </p:sp>
      <p:sp>
        <p:nvSpPr>
          <p:cNvPr id="19" name="Text 17"/>
          <p:cNvSpPr/>
          <p:nvPr/>
        </p:nvSpPr>
        <p:spPr>
          <a:xfrm>
            <a:off x="640080" y="5760720"/>
            <a:ext cx="10881360" cy="457200"/>
          </a:xfrm>
          <a:prstGeom prst="rect">
            <a:avLst/>
          </a:prstGeom>
          <a:noFill/>
          <a:ln/>
        </p:spPr>
        <p:txBody>
          <a:bodyPr wrap="square" lIns="0" tIns="0" rIns="0" bIns="0" rtlCol="0" anchor="ctr"/>
          <a:lstStyle/>
          <a:p>
            <a:pPr indent="0" marL="0">
              <a:buNone/>
            </a:pPr>
            <a:r>
              <a:rPr lang="en-US" sz="1300" i="1" dirty="0">
                <a:solidFill>
                  <a:srgbClr val="38BDF8"/>
                </a:solidFill>
                <a:latin typeface="Calibri" pitchFamily="34" charset="0"/>
                <a:ea typeface="Calibri" pitchFamily="34" charset="-122"/>
                <a:cs typeface="Calibri" pitchFamily="34" charset="-120"/>
              </a:rPr>
              <a:t>La ventana está abierta ahora: el producto existe, el sector se está digitalizando y la competencia se encarece.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182880"/>
            <a:ext cx="1088136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LA PETICIÓN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Qué buscamos</a:t>
            </a:r>
            <a:endParaRPr lang="en-US" sz="3400" dirty="0"/>
          </a:p>
        </p:txBody>
      </p:sp>
      <p:sp>
        <p:nvSpPr>
          <p:cNvPr id="4" name="Shape 2"/>
          <p:cNvSpPr/>
          <p:nvPr/>
        </p:nvSpPr>
        <p:spPr>
          <a:xfrm>
            <a:off x="640080" y="1463040"/>
            <a:ext cx="5394960" cy="3063240"/>
          </a:xfrm>
          <a:prstGeom prst="roundRect">
            <a:avLst>
              <a:gd name="adj" fmla="val 3582"/>
            </a:avLst>
          </a:prstGeom>
          <a:solidFill>
            <a:srgbClr val="122340"/>
          </a:solidFill>
          <a:ln w="12700">
            <a:solidFill>
              <a:srgbClr val="122340"/>
            </a:solidFill>
            <a:prstDash val="solid"/>
          </a:ln>
        </p:spPr>
      </p:sp>
      <p:sp>
        <p:nvSpPr>
          <p:cNvPr id="5" name="Text 3"/>
          <p:cNvSpPr/>
          <p:nvPr/>
        </p:nvSpPr>
        <p:spPr>
          <a:xfrm>
            <a:off x="960120" y="1737360"/>
            <a:ext cx="4754880" cy="27432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Levantamos</a:t>
            </a:r>
            <a:endParaRPr lang="en-US" sz="1300" dirty="0"/>
          </a:p>
        </p:txBody>
      </p:sp>
      <p:sp>
        <p:nvSpPr>
          <p:cNvPr id="6" name="Text 4"/>
          <p:cNvSpPr/>
          <p:nvPr/>
        </p:nvSpPr>
        <p:spPr>
          <a:xfrm>
            <a:off x="960120" y="2057400"/>
            <a:ext cx="4754880" cy="731520"/>
          </a:xfrm>
          <a:prstGeom prst="rect">
            <a:avLst/>
          </a:prstGeom>
          <a:noFill/>
          <a:ln/>
        </p:spPr>
        <p:txBody>
          <a:bodyPr wrap="square" lIns="0" tIns="0" rIns="0" bIns="0" rtlCol="0" anchor="ctr"/>
          <a:lstStyle/>
          <a:p>
            <a:pPr indent="0" marL="0">
              <a:buNone/>
            </a:pPr>
            <a:r>
              <a:rPr lang="en-US" sz="4400" b="1" dirty="0">
                <a:solidFill>
                  <a:srgbClr val="F1F5F9"/>
                </a:solidFill>
                <a:latin typeface="Cambria" pitchFamily="34" charset="0"/>
                <a:ea typeface="Cambria" pitchFamily="34" charset="-122"/>
                <a:cs typeface="Cambria" pitchFamily="34" charset="-120"/>
              </a:rPr>
              <a:t>[IMPORTE]</a:t>
            </a:r>
            <a:endParaRPr lang="en-US" sz="4400" dirty="0"/>
          </a:p>
        </p:txBody>
      </p:sp>
      <p:sp>
        <p:nvSpPr>
          <p:cNvPr id="7" name="Text 5"/>
          <p:cNvSpPr/>
          <p:nvPr/>
        </p:nvSpPr>
        <p:spPr>
          <a:xfrm>
            <a:off x="960120" y="2834640"/>
            <a:ext cx="4754880" cy="640080"/>
          </a:xfrm>
          <a:prstGeom prst="rect">
            <a:avLst/>
          </a:prstGeom>
          <a:noFill/>
          <a:ln/>
        </p:spPr>
        <p:txBody>
          <a:bodyPr wrap="square" lIns="0" tIns="0" rIns="0" bIns="0" rtlCol="0" anchor="ctr"/>
          <a:lstStyle/>
          <a:p>
            <a:pPr indent="0" marL="0">
              <a:lnSpc>
                <a:spcPts val="1700"/>
              </a:lnSpc>
              <a:buNone/>
            </a:pPr>
            <a:r>
              <a:rPr lang="en-US" sz="1250" dirty="0">
                <a:solidFill>
                  <a:srgbClr val="94A3B8"/>
                </a:solidFill>
                <a:latin typeface="Calibri" pitchFamily="34" charset="0"/>
                <a:ea typeface="Calibri" pitchFamily="34" charset="-122"/>
                <a:cs typeface="Calibri" pitchFamily="34" charset="-120"/>
              </a:rPr>
              <a:t>para financiar los próximos 12-18 meses hasta alcanzar ingresos recurrentes.</a:t>
            </a:r>
            <a:endParaRPr lang="en-US" sz="1250" dirty="0"/>
          </a:p>
        </p:txBody>
      </p:sp>
      <p:sp>
        <p:nvSpPr>
          <p:cNvPr id="8" name="Text 6"/>
          <p:cNvSpPr/>
          <p:nvPr/>
        </p:nvSpPr>
        <p:spPr>
          <a:xfrm>
            <a:off x="960120" y="3566160"/>
            <a:ext cx="4754880" cy="365760"/>
          </a:xfrm>
          <a:prstGeom prst="rect">
            <a:avLst/>
          </a:prstGeom>
          <a:noFill/>
          <a:ln/>
        </p:spPr>
        <p:txBody>
          <a:bodyPr wrap="square" lIns="0" tIns="0" rIns="0" bIns="0" rtlCol="0" anchor="ctr"/>
          <a:lstStyle/>
          <a:p>
            <a:pPr indent="0" marL="0">
              <a:buNone/>
            </a:pPr>
            <a:r>
              <a:rPr lang="en-US" sz="1250" b="1" dirty="0">
                <a:solidFill>
                  <a:srgbClr val="F1F5F9"/>
                </a:solidFill>
                <a:latin typeface="Calibri" pitchFamily="34" charset="0"/>
                <a:ea typeface="Calibri" pitchFamily="34" charset="-122"/>
                <a:cs typeface="Calibri" pitchFamily="34" charset="-120"/>
              </a:rPr>
              <a:t>A cambio de [%] del capital.</a:t>
            </a:r>
            <a:endParaRPr lang="en-US" sz="1250" dirty="0"/>
          </a:p>
        </p:txBody>
      </p:sp>
      <p:sp>
        <p:nvSpPr>
          <p:cNvPr id="9" name="Text 7"/>
          <p:cNvSpPr/>
          <p:nvPr/>
        </p:nvSpPr>
        <p:spPr>
          <a:xfrm>
            <a:off x="960120" y="4069080"/>
            <a:ext cx="4754880" cy="320040"/>
          </a:xfrm>
          <a:prstGeom prst="rect">
            <a:avLst/>
          </a:prstGeom>
          <a:noFill/>
          <a:ln/>
        </p:spPr>
        <p:txBody>
          <a:bodyPr wrap="square" lIns="0" tIns="0" rIns="0" bIns="0"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Rellenar con tus cifras antes de presentar.</a:t>
            </a:r>
            <a:endParaRPr lang="en-US" sz="1000" dirty="0"/>
          </a:p>
        </p:txBody>
      </p:sp>
      <p:sp>
        <p:nvSpPr>
          <p:cNvPr id="10" name="Text 8"/>
          <p:cNvSpPr/>
          <p:nvPr/>
        </p:nvSpPr>
        <p:spPr>
          <a:xfrm>
            <a:off x="6400800" y="1600200"/>
            <a:ext cx="5120640" cy="32004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En qué se invierte</a:t>
            </a:r>
            <a:endParaRPr lang="en-US" sz="1600" dirty="0"/>
          </a:p>
        </p:txBody>
      </p:sp>
      <p:sp>
        <p:nvSpPr>
          <p:cNvPr id="11" name="Shape 9"/>
          <p:cNvSpPr/>
          <p:nvPr/>
        </p:nvSpPr>
        <p:spPr>
          <a:xfrm>
            <a:off x="6400800" y="2057400"/>
            <a:ext cx="502920" cy="502920"/>
          </a:xfrm>
          <a:prstGeom prst="ellipse">
            <a:avLst/>
          </a:prstGeom>
          <a:solidFill>
            <a:srgbClr val="2563EB"/>
          </a:solidFill>
          <a:ln/>
        </p:spPr>
      </p:sp>
      <p:sp>
        <p:nvSpPr>
          <p:cNvPr id="12" name="Text 10"/>
          <p:cNvSpPr/>
          <p:nvPr/>
        </p:nvSpPr>
        <p:spPr>
          <a:xfrm>
            <a:off x="6400800" y="2057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7086600" y="2075688"/>
            <a:ext cx="4480560" cy="27432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Captación de entrenadores</a:t>
            </a:r>
            <a:endParaRPr lang="en-US" sz="1350" dirty="0"/>
          </a:p>
        </p:txBody>
      </p:sp>
      <p:sp>
        <p:nvSpPr>
          <p:cNvPr id="14" name="Text 12"/>
          <p:cNvSpPr/>
          <p:nvPr/>
        </p:nvSpPr>
        <p:spPr>
          <a:xfrm>
            <a:off x="7086600" y="2368296"/>
            <a:ext cx="4480560" cy="50292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Contenido, comunidad y ventas directas al entrenador independiente.</a:t>
            </a:r>
            <a:endParaRPr lang="en-US" sz="1150" dirty="0"/>
          </a:p>
        </p:txBody>
      </p:sp>
      <p:sp>
        <p:nvSpPr>
          <p:cNvPr id="15" name="Shape 13"/>
          <p:cNvSpPr/>
          <p:nvPr/>
        </p:nvSpPr>
        <p:spPr>
          <a:xfrm>
            <a:off x="6400800" y="3108960"/>
            <a:ext cx="502920" cy="502920"/>
          </a:xfrm>
          <a:prstGeom prst="ellipse">
            <a:avLst/>
          </a:prstGeom>
          <a:solidFill>
            <a:srgbClr val="2563EB"/>
          </a:solidFill>
          <a:ln/>
        </p:spPr>
      </p:sp>
      <p:sp>
        <p:nvSpPr>
          <p:cNvPr id="16" name="Text 14"/>
          <p:cNvSpPr/>
          <p:nvPr/>
        </p:nvSpPr>
        <p:spPr>
          <a:xfrm>
            <a:off x="6400800" y="3108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7086600" y="3127248"/>
            <a:ext cx="4480560" cy="27432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Cobros integrados</a:t>
            </a:r>
            <a:endParaRPr lang="en-US" sz="1350" dirty="0"/>
          </a:p>
        </p:txBody>
      </p:sp>
      <p:sp>
        <p:nvSpPr>
          <p:cNvPr id="18" name="Text 16"/>
          <p:cNvSpPr/>
          <p:nvPr/>
        </p:nvSpPr>
        <p:spPr>
          <a:xfrm>
            <a:off x="7086600" y="3419856"/>
            <a:ext cx="4480560" cy="50292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Desarrollo de la pasarela de pagos: la segunda línea de ingresos.</a:t>
            </a:r>
            <a:endParaRPr lang="en-US" sz="1150" dirty="0"/>
          </a:p>
        </p:txBody>
      </p:sp>
      <p:sp>
        <p:nvSpPr>
          <p:cNvPr id="19" name="Shape 17"/>
          <p:cNvSpPr/>
          <p:nvPr/>
        </p:nvSpPr>
        <p:spPr>
          <a:xfrm>
            <a:off x="6400800" y="4160520"/>
            <a:ext cx="502920" cy="502920"/>
          </a:xfrm>
          <a:prstGeom prst="ellipse">
            <a:avLst/>
          </a:prstGeom>
          <a:solidFill>
            <a:srgbClr val="2563EB"/>
          </a:solidFill>
          <a:ln/>
        </p:spPr>
      </p:sp>
      <p:sp>
        <p:nvSpPr>
          <p:cNvPr id="20" name="Text 18"/>
          <p:cNvSpPr/>
          <p:nvPr/>
        </p:nvSpPr>
        <p:spPr>
          <a:xfrm>
            <a:off x="6400800"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7086600" y="4178808"/>
            <a:ext cx="4480560" cy="27432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Producto y soporte</a:t>
            </a:r>
            <a:endParaRPr lang="en-US" sz="1350" dirty="0"/>
          </a:p>
        </p:txBody>
      </p:sp>
      <p:sp>
        <p:nvSpPr>
          <p:cNvPr id="22" name="Text 20"/>
          <p:cNvSpPr/>
          <p:nvPr/>
        </p:nvSpPr>
        <p:spPr>
          <a:xfrm>
            <a:off x="7086600" y="4471416"/>
            <a:ext cx="4480560" cy="502920"/>
          </a:xfrm>
          <a:prstGeom prst="rect">
            <a:avLst/>
          </a:prstGeom>
          <a:noFill/>
          <a:ln/>
        </p:spPr>
        <p:txBody>
          <a:bodyPr wrap="square" lIns="0" tIns="0" rIns="0" bIns="0" rtlCol="0" anchor="ctr"/>
          <a:lstStyle/>
          <a:p>
            <a:pPr indent="0" marL="0">
              <a:lnSpc>
                <a:spcPts val="1500"/>
              </a:lnSpc>
              <a:buNone/>
            </a:pPr>
            <a:r>
              <a:rPr lang="en-US" sz="1150" dirty="0">
                <a:solidFill>
                  <a:srgbClr val="94A3B8"/>
                </a:solidFill>
                <a:latin typeface="Calibri" pitchFamily="34" charset="0"/>
                <a:ea typeface="Calibri" pitchFamily="34" charset="-122"/>
                <a:cs typeface="Calibri" pitchFamily="34" charset="-120"/>
              </a:rPr>
              <a:t>Iterar con los primeros usuarios y dar soporte en español.</a:t>
            </a:r>
            <a:endParaRPr lang="en-US" sz="1150" dirty="0"/>
          </a:p>
        </p:txBody>
      </p:sp>
      <p:sp>
        <p:nvSpPr>
          <p:cNvPr id="23" name="Shape 21"/>
          <p:cNvSpPr/>
          <p:nvPr/>
        </p:nvSpPr>
        <p:spPr>
          <a:xfrm>
            <a:off x="6400800" y="5120640"/>
            <a:ext cx="5120640" cy="777240"/>
          </a:xfrm>
          <a:prstGeom prst="roundRect">
            <a:avLst>
              <a:gd name="adj" fmla="val 14118"/>
            </a:avLst>
          </a:prstGeom>
          <a:solidFill>
            <a:srgbClr val="2563EB"/>
          </a:solidFill>
          <a:ln w="12700">
            <a:solidFill>
              <a:srgbClr val="2563EB"/>
            </a:solidFill>
            <a:prstDash val="solid"/>
          </a:ln>
        </p:spPr>
      </p:sp>
      <p:sp>
        <p:nvSpPr>
          <p:cNvPr id="24" name="Text 22"/>
          <p:cNvSpPr/>
          <p:nvPr/>
        </p:nvSpPr>
        <p:spPr>
          <a:xfrm>
            <a:off x="6400800" y="5120640"/>
            <a:ext cx="512064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Hablemos:  hola@coachify.app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Coachify — Deck inversor</dc:title>
  <dc:subject>PptxGenJS Presentation</dc:subject>
  <dc:creator>Coachify</dc:creator>
  <cp:lastModifiedBy>Coachify</cp:lastModifiedBy>
  <cp:revision>1</cp:revision>
  <dcterms:created xsi:type="dcterms:W3CDTF">2026-08-03T18:48:43Z</dcterms:created>
  <dcterms:modified xsi:type="dcterms:W3CDTF">2026-08-03T18:48:43Z</dcterms:modified>
</cp:coreProperties>
</file>